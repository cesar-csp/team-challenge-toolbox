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9" r:id="rId6"/>
    <p:sldId id="258" r:id="rId7"/>
    <p:sldId id="269" r:id="rId8"/>
    <p:sldId id="262" r:id="rId9"/>
    <p:sldId id="270" r:id="rId10"/>
    <p:sldId id="265" r:id="rId11"/>
    <p:sldId id="271" r:id="rId12"/>
    <p:sldId id="264" r:id="rId13"/>
    <p:sldId id="272" r:id="rId14"/>
    <p:sldId id="266" r:id="rId15"/>
    <p:sldId id="273" r:id="rId16"/>
    <p:sldId id="267" r:id="rId17"/>
    <p:sldId id="274" r:id="rId18"/>
    <p:sldId id="260" r:id="rId19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20" autoAdjust="0"/>
    <p:restoredTop sz="94648" autoAdjust="0"/>
  </p:normalViewPr>
  <p:slideViewPr>
    <p:cSldViewPr snapToGrid="0">
      <p:cViewPr varScale="1">
        <p:scale>
          <a:sx n="91" d="100"/>
          <a:sy n="91" d="100"/>
        </p:scale>
        <p:origin x="8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ES" b="1" dirty="0"/>
            <a:t>Describe_df</a:t>
          </a:r>
          <a:endParaRPr lang="es-ES" noProof="0" dirty="0"/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s-ES" noProof="0" dirty="0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ES" b="1" dirty="0"/>
            <a:t>Get_features_cat_regression</a:t>
          </a:r>
          <a:endParaRPr lang="es-ES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s-ES" noProof="0" dirty="0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  <a:buNone/>
          </a:pPr>
          <a:r>
            <a:rPr lang="es-ES" b="1" dirty="0"/>
            <a:t>Plot_features_cat_regression</a:t>
          </a:r>
          <a:endParaRPr lang="es-ES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s-ES" noProof="0" dirty="0"/>
        </a:p>
      </dgm:t>
    </dgm:pt>
    <dgm:pt modelId="{9C418F16-FF7B-4E60-A646-864CFCEB4115}">
      <dgm:prSet/>
      <dgm:spPr/>
      <dgm:t>
        <a:bodyPr/>
        <a:lstStyle/>
        <a:p>
          <a:pPr>
            <a:buNone/>
          </a:pPr>
          <a:r>
            <a:rPr lang="es-ES" b="1" dirty="0"/>
            <a:t>Plot_features_num_regression</a:t>
          </a:r>
          <a:endParaRPr lang="es-ES" dirty="0"/>
        </a:p>
      </dgm:t>
    </dgm:pt>
    <dgm:pt modelId="{730A540C-2B49-4EE1-8B42-918515776D4C}" type="parTrans" cxnId="{02D661D4-6498-4050-898D-4C577289CA59}">
      <dgm:prSet/>
      <dgm:spPr/>
      <dgm:t>
        <a:bodyPr/>
        <a:lstStyle/>
        <a:p>
          <a:endParaRPr lang="es-ES"/>
        </a:p>
      </dgm:t>
    </dgm:pt>
    <dgm:pt modelId="{1FE001E0-593F-4AEA-8235-DC0C68BFC621}" type="sibTrans" cxnId="{02D661D4-6498-4050-898D-4C577289CA59}">
      <dgm:prSet/>
      <dgm:spPr/>
      <dgm:t>
        <a:bodyPr/>
        <a:lstStyle/>
        <a:p>
          <a:endParaRPr lang="es-ES"/>
        </a:p>
      </dgm:t>
    </dgm:pt>
    <dgm:pt modelId="{7420EF1B-CFA1-4A9D-A38D-F6BCC096094D}">
      <dgm:prSet/>
      <dgm:spPr/>
      <dgm:t>
        <a:bodyPr/>
        <a:lstStyle/>
        <a:p>
          <a:pPr>
            <a:buNone/>
          </a:pPr>
          <a:r>
            <a:rPr lang="es-ES" b="1" dirty="0"/>
            <a:t>Get_features_num_regression</a:t>
          </a:r>
          <a:endParaRPr lang="es-ES" dirty="0"/>
        </a:p>
      </dgm:t>
    </dgm:pt>
    <dgm:pt modelId="{D98F97A6-9637-4AAF-B350-8F20976042CA}" type="parTrans" cxnId="{C09B42B0-F965-47E1-A133-DCFEE62EA6CC}">
      <dgm:prSet/>
      <dgm:spPr/>
      <dgm:t>
        <a:bodyPr/>
        <a:lstStyle/>
        <a:p>
          <a:endParaRPr lang="es-ES"/>
        </a:p>
      </dgm:t>
    </dgm:pt>
    <dgm:pt modelId="{E786877A-DF9B-4633-BD89-6BB625BF83DA}" type="sibTrans" cxnId="{C09B42B0-F965-47E1-A133-DCFEE62EA6CC}">
      <dgm:prSet/>
      <dgm:spPr/>
      <dgm:t>
        <a:bodyPr/>
        <a:lstStyle/>
        <a:p>
          <a:endParaRPr lang="es-ES"/>
        </a:p>
      </dgm:t>
    </dgm:pt>
    <dgm:pt modelId="{6F216395-0991-4780-BE71-CD33BBC6973B}">
      <dgm:prSet/>
      <dgm:spPr/>
      <dgm:t>
        <a:bodyPr/>
        <a:lstStyle/>
        <a:p>
          <a:pPr>
            <a:buNone/>
          </a:pPr>
          <a:r>
            <a:rPr lang="es-ES" b="1" dirty="0"/>
            <a:t>Tipifica_variables</a:t>
          </a:r>
          <a:endParaRPr lang="es-ES" dirty="0"/>
        </a:p>
      </dgm:t>
    </dgm:pt>
    <dgm:pt modelId="{E16407D2-60C3-4F23-BBBB-32C61E2FBB44}" type="parTrans" cxnId="{7561D189-155A-49E8-A6BF-BC590AF6935E}">
      <dgm:prSet/>
      <dgm:spPr/>
      <dgm:t>
        <a:bodyPr/>
        <a:lstStyle/>
        <a:p>
          <a:endParaRPr lang="es-ES"/>
        </a:p>
      </dgm:t>
    </dgm:pt>
    <dgm:pt modelId="{742B900D-E05F-4520-A5C1-2E5F57DF1F7C}" type="sibTrans" cxnId="{7561D189-155A-49E8-A6BF-BC590AF6935E}">
      <dgm:prSet/>
      <dgm:spPr/>
      <dgm:t>
        <a:bodyPr/>
        <a:lstStyle/>
        <a:p>
          <a:endParaRPr lang="es-E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6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6"/>
      <dgm:spPr/>
    </dgm:pt>
    <dgm:pt modelId="{429CABD1-4116-474B-81BF-735E2CA9DD00}" type="pres">
      <dgm:prSet presAssocID="{7E5AA53B-3EEE-4DE4-BB81-9044890C2946}" presName="dstNode" presStyleLbl="node1" presStyleIdx="0" presStyleCnt="6"/>
      <dgm:spPr/>
    </dgm:pt>
    <dgm:pt modelId="{4B185C0A-6152-4F72-B3B6-2AE09907AFCD}" type="pres">
      <dgm:prSet presAssocID="{6750AC01-D39D-4F3A-9DC8-2A211EE986A2}" presName="text_1" presStyleLbl="node1" presStyleIdx="0" presStyleCnt="6">
        <dgm:presLayoutVars>
          <dgm:bulletEnabled val="1"/>
        </dgm:presLayoutVars>
      </dgm:prSet>
      <dgm:spPr/>
    </dgm:pt>
    <dgm:pt modelId="{10EC3A6B-D660-4B33-AF6E-9F1609C34349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6"/>
      <dgm:spPr/>
    </dgm:pt>
    <dgm:pt modelId="{4BFC9A7D-9CEA-4A19-BAAA-CCC8CBF06629}" type="pres">
      <dgm:prSet presAssocID="{6F216395-0991-4780-BE71-CD33BBC6973B}" presName="text_2" presStyleLbl="node1" presStyleIdx="1" presStyleCnt="6">
        <dgm:presLayoutVars>
          <dgm:bulletEnabled val="1"/>
        </dgm:presLayoutVars>
      </dgm:prSet>
      <dgm:spPr/>
    </dgm:pt>
    <dgm:pt modelId="{E0532302-A648-40EB-AD5E-5DCD55863705}" type="pres">
      <dgm:prSet presAssocID="{6F216395-0991-4780-BE71-CD33BBC6973B}" presName="accent_2" presStyleCnt="0"/>
      <dgm:spPr/>
    </dgm:pt>
    <dgm:pt modelId="{F8594E4D-DB4F-4F8A-9714-382622C84EC8}" type="pres">
      <dgm:prSet presAssocID="{6F216395-0991-4780-BE71-CD33BBC6973B}" presName="accentRepeatNode" presStyleLbl="solidFgAcc1" presStyleIdx="1" presStyleCnt="6"/>
      <dgm:spPr/>
    </dgm:pt>
    <dgm:pt modelId="{38BBF738-BF24-483B-84DE-77560119F826}" type="pres">
      <dgm:prSet presAssocID="{7420EF1B-CFA1-4A9D-A38D-F6BCC096094D}" presName="text_3" presStyleLbl="node1" presStyleIdx="2" presStyleCnt="6">
        <dgm:presLayoutVars>
          <dgm:bulletEnabled val="1"/>
        </dgm:presLayoutVars>
      </dgm:prSet>
      <dgm:spPr/>
    </dgm:pt>
    <dgm:pt modelId="{92A096B9-DA85-4707-A0E6-38E64AE1B05E}" type="pres">
      <dgm:prSet presAssocID="{7420EF1B-CFA1-4A9D-A38D-F6BCC096094D}" presName="accent_3" presStyleCnt="0"/>
      <dgm:spPr/>
    </dgm:pt>
    <dgm:pt modelId="{B7F33C6F-D45A-49CB-9BE5-F2A2C950C614}" type="pres">
      <dgm:prSet presAssocID="{7420EF1B-CFA1-4A9D-A38D-F6BCC096094D}" presName="accentRepeatNode" presStyleLbl="solidFgAcc1" presStyleIdx="2" presStyleCnt="6"/>
      <dgm:spPr/>
    </dgm:pt>
    <dgm:pt modelId="{8A23622B-3EEC-41C8-B77D-C75B1CF8E49C}" type="pres">
      <dgm:prSet presAssocID="{9C418F16-FF7B-4E60-A646-864CFCEB4115}" presName="text_4" presStyleLbl="node1" presStyleIdx="3" presStyleCnt="6">
        <dgm:presLayoutVars>
          <dgm:bulletEnabled val="1"/>
        </dgm:presLayoutVars>
      </dgm:prSet>
      <dgm:spPr/>
    </dgm:pt>
    <dgm:pt modelId="{F0A45773-8A41-4772-B5A4-E16A9265E139}" type="pres">
      <dgm:prSet presAssocID="{9C418F16-FF7B-4E60-A646-864CFCEB4115}" presName="accent_4" presStyleCnt="0"/>
      <dgm:spPr/>
    </dgm:pt>
    <dgm:pt modelId="{8652A3BE-16C9-4196-A701-C0050A961198}" type="pres">
      <dgm:prSet presAssocID="{9C418F16-FF7B-4E60-A646-864CFCEB4115}" presName="accentRepeatNode" presStyleLbl="solidFgAcc1" presStyleIdx="3" presStyleCnt="6"/>
      <dgm:spPr/>
    </dgm:pt>
    <dgm:pt modelId="{2BC247E1-93E4-41FA-8E9D-EFCB04FB29B6}" type="pres">
      <dgm:prSet presAssocID="{0BEF68B8-1228-47BB-83B5-7B9CD1E3F84E}" presName="text_5" presStyleLbl="node1" presStyleIdx="4" presStyleCnt="6">
        <dgm:presLayoutVars>
          <dgm:bulletEnabled val="1"/>
        </dgm:presLayoutVars>
      </dgm:prSet>
      <dgm:spPr/>
    </dgm:pt>
    <dgm:pt modelId="{51C6A347-5AB6-4FD7-9D3B-09F4352A8EED}" type="pres">
      <dgm:prSet presAssocID="{0BEF68B8-1228-47BB-83B5-7B9CD1E3F84E}" presName="accent_5" presStyleCnt="0"/>
      <dgm:spPr/>
    </dgm:pt>
    <dgm:pt modelId="{3F8116AC-FAC3-4E95-9865-93CCFEB191B9}" type="pres">
      <dgm:prSet presAssocID="{0BEF68B8-1228-47BB-83B5-7B9CD1E3F84E}" presName="accentRepeatNode" presStyleLbl="solidFgAcc1" presStyleIdx="4" presStyleCnt="6"/>
      <dgm:spPr/>
    </dgm:pt>
    <dgm:pt modelId="{DA6896B9-4416-4AA6-8507-17468AAF2ACC}" type="pres">
      <dgm:prSet presAssocID="{5605D28D-2CE6-4513-8566-952984E21E14}" presName="text_6" presStyleLbl="node1" presStyleIdx="5" presStyleCnt="6">
        <dgm:presLayoutVars>
          <dgm:bulletEnabled val="1"/>
        </dgm:presLayoutVars>
      </dgm:prSet>
      <dgm:spPr/>
    </dgm:pt>
    <dgm:pt modelId="{9AECCEA3-E258-46B3-938D-C252F9808C21}" type="pres">
      <dgm:prSet presAssocID="{5605D28D-2CE6-4513-8566-952984E21E14}" presName="accent_6" presStyleCnt="0"/>
      <dgm:spPr/>
    </dgm:pt>
    <dgm:pt modelId="{A965097E-32F1-4AB8-8C4E-2814A7596B2F}" type="pres">
      <dgm:prSet presAssocID="{5605D28D-2CE6-4513-8566-952984E21E14}" presName="accentRepeatNode" presStyleLbl="solidFgAcc1" presStyleIdx="5" presStyleCnt="6"/>
      <dgm:spPr/>
    </dgm:pt>
  </dgm:ptLst>
  <dgm:cxnLst>
    <dgm:cxn modelId="{6E319D01-F289-4966-8077-FCCE989CF879}" type="presOf" srcId="{0BEF68B8-1228-47BB-83B5-7B9CD1E3F84E}" destId="{2BC247E1-93E4-41FA-8E9D-EFCB04FB29B6}" srcOrd="0" destOrd="0" presId="urn:microsoft.com/office/officeart/2008/layout/VerticalCurvedList"/>
    <dgm:cxn modelId="{30B09409-17E3-46BF-B09F-74B4C11D31F1}" type="presOf" srcId="{6750AC01-D39D-4F3A-9DC8-2A211EE986A2}" destId="{4B185C0A-6152-4F72-B3B6-2AE09907AFCD}" srcOrd="0" destOrd="0" presId="urn:microsoft.com/office/officeart/2008/layout/VerticalCurvedList"/>
    <dgm:cxn modelId="{DD3E7911-3D44-430A-A024-8BB3DAC3CD12}" type="presOf" srcId="{5605D28D-2CE6-4513-8566-952984E21E14}" destId="{DA6896B9-4416-4AA6-8507-17468AAF2ACC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D8326377-F931-4BEC-B762-22B89CDC4EC1}" type="presOf" srcId="{6F216395-0991-4780-BE71-CD33BBC6973B}" destId="{4BFC9A7D-9CEA-4A19-BAAA-CCC8CBF06629}" srcOrd="0" destOrd="0" presId="urn:microsoft.com/office/officeart/2008/layout/VerticalCurvedList"/>
    <dgm:cxn modelId="{23487E59-D189-43AA-9CE8-0A76171F4354}" type="presOf" srcId="{7420EF1B-CFA1-4A9D-A38D-F6BCC096094D}" destId="{38BBF738-BF24-483B-84DE-77560119F826}" srcOrd="0" destOrd="0" presId="urn:microsoft.com/office/officeart/2008/layout/VerticalCurvedList"/>
    <dgm:cxn modelId="{EDEF4F82-1237-4639-A0F7-385C1897CE66}" srcId="{7E5AA53B-3EEE-4DE4-BB81-9044890C2946}" destId="{0BEF68B8-1228-47BB-83B5-7B9CD1E3F84E}" srcOrd="4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5" destOrd="0" parTransId="{EB15AB98-362B-4E70-A3DA-995FC3E8BA79}" sibTransId="{823D1971-2C4D-4EC5-A874-2F463DE37109}"/>
    <dgm:cxn modelId="{7561D189-155A-49E8-A6BF-BC590AF6935E}" srcId="{7E5AA53B-3EEE-4DE4-BB81-9044890C2946}" destId="{6F216395-0991-4780-BE71-CD33BBC6973B}" srcOrd="1" destOrd="0" parTransId="{E16407D2-60C3-4F23-BBBB-32C61E2FBB44}" sibTransId="{742B900D-E05F-4520-A5C1-2E5F57DF1F7C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C09B42B0-F965-47E1-A133-DCFEE62EA6CC}" srcId="{7E5AA53B-3EEE-4DE4-BB81-9044890C2946}" destId="{7420EF1B-CFA1-4A9D-A38D-F6BCC096094D}" srcOrd="2" destOrd="0" parTransId="{D98F97A6-9637-4AAF-B350-8F20976042CA}" sibTransId="{E786877A-DF9B-4633-BD89-6BB625BF83DA}"/>
    <dgm:cxn modelId="{99CC9EB4-F23E-4FDC-B5A7-C7E7A3D53D62}" type="presOf" srcId="{9C418F16-FF7B-4E60-A646-864CFCEB4115}" destId="{8A23622B-3EEC-41C8-B77D-C75B1CF8E49C}" srcOrd="0" destOrd="0" presId="urn:microsoft.com/office/officeart/2008/layout/VerticalCurvedList"/>
    <dgm:cxn modelId="{02D661D4-6498-4050-898D-4C577289CA59}" srcId="{7E5AA53B-3EEE-4DE4-BB81-9044890C2946}" destId="{9C418F16-FF7B-4E60-A646-864CFCEB4115}" srcOrd="3" destOrd="0" parTransId="{730A540C-2B49-4EE1-8B42-918515776D4C}" sibTransId="{1FE001E0-593F-4AEA-8235-DC0C68BFC621}"/>
    <dgm:cxn modelId="{CA364AF7-1719-4517-A6B3-2B9D9628A9C1}" type="presOf" srcId="{CA077D98-8478-47EA-B6A9-99ACE60C64D4}" destId="{D79B43FC-100B-4A0D-A4D5-0D2D04B99064}" srcOrd="0" destOrd="0" presId="urn:microsoft.com/office/officeart/2008/layout/VerticalCurvedList"/>
    <dgm:cxn modelId="{465DB7D3-A2A3-42EF-A28A-0F834356B286}" type="presParOf" srcId="{57806726-6E60-4ACC-9C1C-7DF9CC365A10}" destId="{90561C55-3C6E-4D53-85E1-2C50BCDDA392}" srcOrd="0" destOrd="0" presId="urn:microsoft.com/office/officeart/2008/layout/VerticalCurvedList"/>
    <dgm:cxn modelId="{B16CF192-6E49-4580-9906-782590D47B18}" type="presParOf" srcId="{90561C55-3C6E-4D53-85E1-2C50BCDDA392}" destId="{B6CD42EC-5AD4-4004-AE5B-47EDA668DAA8}" srcOrd="0" destOrd="0" presId="urn:microsoft.com/office/officeart/2008/layout/VerticalCurvedList"/>
    <dgm:cxn modelId="{73E9F043-115F-4E4E-8025-8EB2605E02BD}" type="presParOf" srcId="{B6CD42EC-5AD4-4004-AE5B-47EDA668DAA8}" destId="{963B8EE3-40CC-4A0A-B420-D0BF920973CE}" srcOrd="0" destOrd="0" presId="urn:microsoft.com/office/officeart/2008/layout/VerticalCurvedList"/>
    <dgm:cxn modelId="{F71D4528-4908-4531-AFB6-3B0F7B521ABD}" type="presParOf" srcId="{B6CD42EC-5AD4-4004-AE5B-47EDA668DAA8}" destId="{D79B43FC-100B-4A0D-A4D5-0D2D04B99064}" srcOrd="1" destOrd="0" presId="urn:microsoft.com/office/officeart/2008/layout/VerticalCurvedList"/>
    <dgm:cxn modelId="{68E61D24-CD75-4CBC-B396-F0D579A638E5}" type="presParOf" srcId="{B6CD42EC-5AD4-4004-AE5B-47EDA668DAA8}" destId="{3CAD8DA1-8D53-445C-ACE8-D8449E4F0F55}" srcOrd="2" destOrd="0" presId="urn:microsoft.com/office/officeart/2008/layout/VerticalCurvedList"/>
    <dgm:cxn modelId="{F504F311-69A3-463E-BD52-001355BC1C43}" type="presParOf" srcId="{B6CD42EC-5AD4-4004-AE5B-47EDA668DAA8}" destId="{429CABD1-4116-474B-81BF-735E2CA9DD00}" srcOrd="3" destOrd="0" presId="urn:microsoft.com/office/officeart/2008/layout/VerticalCurvedList"/>
    <dgm:cxn modelId="{40338627-EA6A-4A8A-A2E6-92A175D75CE8}" type="presParOf" srcId="{90561C55-3C6E-4D53-85E1-2C50BCDDA392}" destId="{4B185C0A-6152-4F72-B3B6-2AE09907AFCD}" srcOrd="1" destOrd="0" presId="urn:microsoft.com/office/officeart/2008/layout/VerticalCurvedList"/>
    <dgm:cxn modelId="{531DC59A-21E8-480C-9CDF-D14A2CD4FC7B}" type="presParOf" srcId="{90561C55-3C6E-4D53-85E1-2C50BCDDA392}" destId="{10EC3A6B-D660-4B33-AF6E-9F1609C34349}" srcOrd="2" destOrd="0" presId="urn:microsoft.com/office/officeart/2008/layout/VerticalCurvedList"/>
    <dgm:cxn modelId="{8AF5BE50-B39F-4378-93A4-601AFA73BF5F}" type="presParOf" srcId="{10EC3A6B-D660-4B33-AF6E-9F1609C34349}" destId="{07CB3071-D555-47DA-A36A-69EB91531FD8}" srcOrd="0" destOrd="0" presId="urn:microsoft.com/office/officeart/2008/layout/VerticalCurvedList"/>
    <dgm:cxn modelId="{3AB5EC93-2202-4848-A18F-0E7BE2DE90FB}" type="presParOf" srcId="{90561C55-3C6E-4D53-85E1-2C50BCDDA392}" destId="{4BFC9A7D-9CEA-4A19-BAAA-CCC8CBF06629}" srcOrd="3" destOrd="0" presId="urn:microsoft.com/office/officeart/2008/layout/VerticalCurvedList"/>
    <dgm:cxn modelId="{58DD6B6F-FDC5-4B12-B776-7B36443D56A3}" type="presParOf" srcId="{90561C55-3C6E-4D53-85E1-2C50BCDDA392}" destId="{E0532302-A648-40EB-AD5E-5DCD55863705}" srcOrd="4" destOrd="0" presId="urn:microsoft.com/office/officeart/2008/layout/VerticalCurvedList"/>
    <dgm:cxn modelId="{9D3BA215-0F40-4769-A51B-38A525A989F5}" type="presParOf" srcId="{E0532302-A648-40EB-AD5E-5DCD55863705}" destId="{F8594E4D-DB4F-4F8A-9714-382622C84EC8}" srcOrd="0" destOrd="0" presId="urn:microsoft.com/office/officeart/2008/layout/VerticalCurvedList"/>
    <dgm:cxn modelId="{820204B0-A348-4AFC-BDFA-C083FC1A8FEA}" type="presParOf" srcId="{90561C55-3C6E-4D53-85E1-2C50BCDDA392}" destId="{38BBF738-BF24-483B-84DE-77560119F826}" srcOrd="5" destOrd="0" presId="urn:microsoft.com/office/officeart/2008/layout/VerticalCurvedList"/>
    <dgm:cxn modelId="{A82C12CB-A48E-48B8-8101-A8EB2C0E1D0E}" type="presParOf" srcId="{90561C55-3C6E-4D53-85E1-2C50BCDDA392}" destId="{92A096B9-DA85-4707-A0E6-38E64AE1B05E}" srcOrd="6" destOrd="0" presId="urn:microsoft.com/office/officeart/2008/layout/VerticalCurvedList"/>
    <dgm:cxn modelId="{03C6302C-14A7-4D8E-B4CF-B771CE06D40C}" type="presParOf" srcId="{92A096B9-DA85-4707-A0E6-38E64AE1B05E}" destId="{B7F33C6F-D45A-49CB-9BE5-F2A2C950C614}" srcOrd="0" destOrd="0" presId="urn:microsoft.com/office/officeart/2008/layout/VerticalCurvedList"/>
    <dgm:cxn modelId="{1B1EFC76-D551-45CF-A48A-B7E9A0BABE00}" type="presParOf" srcId="{90561C55-3C6E-4D53-85E1-2C50BCDDA392}" destId="{8A23622B-3EEC-41C8-B77D-C75B1CF8E49C}" srcOrd="7" destOrd="0" presId="urn:microsoft.com/office/officeart/2008/layout/VerticalCurvedList"/>
    <dgm:cxn modelId="{A792062A-BA19-4046-90D3-36B3F224458E}" type="presParOf" srcId="{90561C55-3C6E-4D53-85E1-2C50BCDDA392}" destId="{F0A45773-8A41-4772-B5A4-E16A9265E139}" srcOrd="8" destOrd="0" presId="urn:microsoft.com/office/officeart/2008/layout/VerticalCurvedList"/>
    <dgm:cxn modelId="{7A395FF7-B9F7-450C-B03D-14910E38EC3D}" type="presParOf" srcId="{F0A45773-8A41-4772-B5A4-E16A9265E139}" destId="{8652A3BE-16C9-4196-A701-C0050A961198}" srcOrd="0" destOrd="0" presId="urn:microsoft.com/office/officeart/2008/layout/VerticalCurvedList"/>
    <dgm:cxn modelId="{74B27C00-2ABD-451A-ABF4-414B31003000}" type="presParOf" srcId="{90561C55-3C6E-4D53-85E1-2C50BCDDA392}" destId="{2BC247E1-93E4-41FA-8E9D-EFCB04FB29B6}" srcOrd="9" destOrd="0" presId="urn:microsoft.com/office/officeart/2008/layout/VerticalCurvedList"/>
    <dgm:cxn modelId="{5AC473F7-B377-4E87-88BA-DC46368D759C}" type="presParOf" srcId="{90561C55-3C6E-4D53-85E1-2C50BCDDA392}" destId="{51C6A347-5AB6-4FD7-9D3B-09F4352A8EED}" srcOrd="10" destOrd="0" presId="urn:microsoft.com/office/officeart/2008/layout/VerticalCurvedList"/>
    <dgm:cxn modelId="{71AA4655-95F5-4E09-902D-5303FF8AAE70}" type="presParOf" srcId="{51C6A347-5AB6-4FD7-9D3B-09F4352A8EED}" destId="{3F8116AC-FAC3-4E95-9865-93CCFEB191B9}" srcOrd="0" destOrd="0" presId="urn:microsoft.com/office/officeart/2008/layout/VerticalCurvedList"/>
    <dgm:cxn modelId="{72B36562-E113-4638-A3C2-76920EF98873}" type="presParOf" srcId="{90561C55-3C6E-4D53-85E1-2C50BCDDA392}" destId="{DA6896B9-4416-4AA6-8507-17468AAF2ACC}" srcOrd="11" destOrd="0" presId="urn:microsoft.com/office/officeart/2008/layout/VerticalCurvedList"/>
    <dgm:cxn modelId="{6850BBF7-19FB-45A9-839A-0DB83B1D0719}" type="presParOf" srcId="{90561C55-3C6E-4D53-85E1-2C50BCDDA392}" destId="{9AECCEA3-E258-46B3-938D-C252F9808C21}" srcOrd="12" destOrd="0" presId="urn:microsoft.com/office/officeart/2008/layout/VerticalCurvedList"/>
    <dgm:cxn modelId="{6E2D9AE9-6E57-4CC2-994D-FC2E2F1A3C38}" type="presParOf" srcId="{9AECCEA3-E258-46B3-938D-C252F9808C21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185C0A-6152-4F72-B3B6-2AE09907AFCD}">
      <dsp:nvSpPr>
        <dsp:cNvPr id="0" name=""/>
        <dsp:cNvSpPr/>
      </dsp:nvSpPr>
      <dsp:spPr>
        <a:xfrm>
          <a:off x="288790" y="187676"/>
          <a:ext cx="6518168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Describe_df</a:t>
          </a:r>
          <a:endParaRPr lang="es-ES" sz="1800" kern="1200" noProof="0" dirty="0"/>
        </a:p>
      </dsp:txBody>
      <dsp:txXfrm>
        <a:off x="288790" y="187676"/>
        <a:ext cx="6518168" cy="375211"/>
      </dsp:txXfrm>
    </dsp:sp>
    <dsp:sp modelId="{07CB3071-D555-47DA-A36A-69EB91531FD8}">
      <dsp:nvSpPr>
        <dsp:cNvPr id="0" name=""/>
        <dsp:cNvSpPr/>
      </dsp:nvSpPr>
      <dsp:spPr>
        <a:xfrm>
          <a:off x="54283" y="140775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C9A7D-9CEA-4A19-BAAA-CCC8CBF06629}">
      <dsp:nvSpPr>
        <dsp:cNvPr id="0" name=""/>
        <dsp:cNvSpPr/>
      </dsp:nvSpPr>
      <dsp:spPr>
        <a:xfrm>
          <a:off x="597427" y="750422"/>
          <a:ext cx="6209531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Tipifica_variables</a:t>
          </a:r>
          <a:endParaRPr lang="es-ES" sz="1800" kern="1200" dirty="0"/>
        </a:p>
      </dsp:txBody>
      <dsp:txXfrm>
        <a:off x="597427" y="750422"/>
        <a:ext cx="6209531" cy="375211"/>
      </dsp:txXfrm>
    </dsp:sp>
    <dsp:sp modelId="{F8594E4D-DB4F-4F8A-9714-382622C84EC8}">
      <dsp:nvSpPr>
        <dsp:cNvPr id="0" name=""/>
        <dsp:cNvSpPr/>
      </dsp:nvSpPr>
      <dsp:spPr>
        <a:xfrm>
          <a:off x="362920" y="703521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BBF738-BF24-483B-84DE-77560119F826}">
      <dsp:nvSpPr>
        <dsp:cNvPr id="0" name=""/>
        <dsp:cNvSpPr/>
      </dsp:nvSpPr>
      <dsp:spPr>
        <a:xfrm>
          <a:off x="738559" y="1313168"/>
          <a:ext cx="6068399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Get_features_num_regression</a:t>
          </a:r>
          <a:endParaRPr lang="es-ES" sz="1800" kern="1200" dirty="0"/>
        </a:p>
      </dsp:txBody>
      <dsp:txXfrm>
        <a:off x="738559" y="1313168"/>
        <a:ext cx="6068399" cy="375211"/>
      </dsp:txXfrm>
    </dsp:sp>
    <dsp:sp modelId="{B7F33C6F-D45A-49CB-9BE5-F2A2C950C614}">
      <dsp:nvSpPr>
        <dsp:cNvPr id="0" name=""/>
        <dsp:cNvSpPr/>
      </dsp:nvSpPr>
      <dsp:spPr>
        <a:xfrm>
          <a:off x="504052" y="1266267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3622B-3EEC-41C8-B77D-C75B1CF8E49C}">
      <dsp:nvSpPr>
        <dsp:cNvPr id="0" name=""/>
        <dsp:cNvSpPr/>
      </dsp:nvSpPr>
      <dsp:spPr>
        <a:xfrm>
          <a:off x="738559" y="1875558"/>
          <a:ext cx="6068399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Plot_features_num_regression</a:t>
          </a:r>
          <a:endParaRPr lang="es-ES" sz="1800" kern="1200" dirty="0"/>
        </a:p>
      </dsp:txBody>
      <dsp:txXfrm>
        <a:off x="738559" y="1875558"/>
        <a:ext cx="6068399" cy="375211"/>
      </dsp:txXfrm>
    </dsp:sp>
    <dsp:sp modelId="{8652A3BE-16C9-4196-A701-C0050A961198}">
      <dsp:nvSpPr>
        <dsp:cNvPr id="0" name=""/>
        <dsp:cNvSpPr/>
      </dsp:nvSpPr>
      <dsp:spPr>
        <a:xfrm>
          <a:off x="504052" y="1828656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C247E1-93E4-41FA-8E9D-EFCB04FB29B6}">
      <dsp:nvSpPr>
        <dsp:cNvPr id="0" name=""/>
        <dsp:cNvSpPr/>
      </dsp:nvSpPr>
      <dsp:spPr>
        <a:xfrm>
          <a:off x="597427" y="2438303"/>
          <a:ext cx="6209531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Get_features_cat_regression</a:t>
          </a:r>
          <a:endParaRPr lang="es-ES" sz="1800" kern="1200" noProof="0" dirty="0"/>
        </a:p>
      </dsp:txBody>
      <dsp:txXfrm>
        <a:off x="597427" y="2438303"/>
        <a:ext cx="6209531" cy="375211"/>
      </dsp:txXfrm>
    </dsp:sp>
    <dsp:sp modelId="{3F8116AC-FAC3-4E95-9865-93CCFEB191B9}">
      <dsp:nvSpPr>
        <dsp:cNvPr id="0" name=""/>
        <dsp:cNvSpPr/>
      </dsp:nvSpPr>
      <dsp:spPr>
        <a:xfrm>
          <a:off x="362920" y="2391402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896B9-4416-4AA6-8507-17468AAF2ACC}">
      <dsp:nvSpPr>
        <dsp:cNvPr id="0" name=""/>
        <dsp:cNvSpPr/>
      </dsp:nvSpPr>
      <dsp:spPr>
        <a:xfrm>
          <a:off x="288790" y="3001049"/>
          <a:ext cx="6518168" cy="37521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782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Plot_features_cat_regression</a:t>
          </a:r>
          <a:endParaRPr lang="es-ES" sz="1800" kern="1200" noProof="0" dirty="0"/>
        </a:p>
      </dsp:txBody>
      <dsp:txXfrm>
        <a:off x="288790" y="3001049"/>
        <a:ext cx="6518168" cy="375211"/>
      </dsp:txXfrm>
    </dsp:sp>
    <dsp:sp modelId="{A965097E-32F1-4AB8-8C4E-2814A7596B2F}">
      <dsp:nvSpPr>
        <dsp:cNvPr id="0" name=""/>
        <dsp:cNvSpPr/>
      </dsp:nvSpPr>
      <dsp:spPr>
        <a:xfrm>
          <a:off x="54283" y="2954148"/>
          <a:ext cx="469014" cy="46901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957B284-434F-4737-87F6-3C1E78FB2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727AB7-3970-4FE4-A134-9D1EEE3EADD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B8E98-EB83-4166-8CDF-F8D5CC97446D}" type="datetimeFigureOut">
              <a:rPr lang="es-ES" smtClean="0"/>
              <a:t>27/01/2026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0C17C43-A4DD-44E5-B373-511461F876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9C40B9-1970-4F62-BE22-5883A05E9A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5CBA8-3118-4264-9DB3-F09EDF8E113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37989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59F1FC-52BF-40A0-B8CD-E5DB9AB207F2}" type="datetimeFigureOut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CC092-CABA-48D0-B3F7-B535EA5228F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53344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959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941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6694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EAD0-3C14-E334-5C48-A19DEA07D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A71B26-CC34-EAE9-23E9-8C43E77D8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BC05A3-B9ED-3372-7AAC-85528F93F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7638F7-B1F7-563B-C7CA-69452DDB71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076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05D7-3E43-8BC6-641B-72CB662C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0C1B431-B93C-93CD-E48F-F3CEE375B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38631BE-C2FE-6F30-D41B-32324DF33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6587EA-1FF7-76C9-0B4A-5A6DA7881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2124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B120-902D-9035-4E92-24D58FE0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426FBF-4008-DDFC-C589-5EEE9A9BC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0ACCAC-D412-9B4C-D488-E93366C8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C21C9F-6A31-0A36-71A9-11D704A08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6618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DDC0-0939-8B7E-2841-AA1D95AD3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D15CED-7E56-C37F-73A9-F75097013C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6E26E6C-AC15-1E65-11C6-07FD9DDAC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F7340B-8DFF-94ED-8152-B9ADEB95C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2973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11625-FB68-5CF2-C22C-08D33E1F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81FCC3-30BD-0451-9131-EFA7EAAEC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D3B0F4-EF67-B512-CC0E-3D5A62A79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7D22AD-3F4F-D353-7858-E0E0F1576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4392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4776-A617-8B88-9630-2124FFF06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F1DE28-2A8F-36A2-EB87-7334965B1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0CB8ED-7AD5-72D1-2593-D11587258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1E343B-4520-7FA6-7490-65BCDCDA2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6264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9B76-6093-FF11-F287-5D83C04C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3F94CF3-FC6F-BF9A-12BC-7EA07B3AA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32FE8A0-1228-00C5-7116-5B72F8802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25CE76-AAC6-C5D2-E785-C29E47031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994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0CBF3-E8D3-255C-F23D-4B99C817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0D9C76-4F59-45BF-27C5-6557766BA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AF23F1-A090-B2D0-87CF-68A958425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4CC91A-5446-3B1A-F96C-713C96B24E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7864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B3D3-2B5C-6B2B-9DB9-3DE7C2631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52407E-4361-E77E-7E23-010C4E7FC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CA65098-797F-CA27-8892-512318E036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070E50-55ED-6764-230F-543DC34E2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1890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DF8B-BE66-4455-5B3A-27CB95558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FB0AD6-1636-8AD2-DECA-EB44A711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39178F8-EABD-B7F4-E6A2-1695FF0E4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7B262F-A6E3-323C-D95B-37C9473C29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2005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FB1F-B0ED-5604-9F4F-370C8F82E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8F07C05-2301-ACAD-E7D1-9CB5B2F58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71D3AF-91FB-E385-950A-2FF3C9BCC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1C3A88-D5D9-32E3-1AC7-6C97EDBB6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587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6CC092-CABA-48D0-B3F7-B535EA5228F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943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F3AD093-6935-4E25-8E83-BEC3D2E3622E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CF8AC2-1C52-4F78-88EE-331D670B19A5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E6CF4E9-F423-4970-91B6-143DF72FA056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3955445-6089-478A-9DA1-4738AC4A8C11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2D574B-5FDE-4FDF-8F45-99828D8C688F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9631C6-D8ED-4343-819F-B7AEF7D4E056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46FA238-7AE4-47C1-BF2A-706B9C8FFAA8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 dirty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E6D5EDF-0088-49D6-AAFA-F513F5E3B893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E0ACB-2DC9-41EC-A846-D82D047DE411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E6873-B7CD-47F1-B4BA-70026F4A4FD4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del título principal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6AA1814-B970-47C5-B4E1-BCA0D77E15F3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8DB00A2C-96CA-430C-81E9-81B790CC7C63}" type="datetime1">
              <a:rPr lang="es-ES" noProof="0" smtClean="0"/>
              <a:t>27/01/2026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4500" dirty="0">
                <a:solidFill>
                  <a:schemeClr val="bg1"/>
                </a:solidFill>
              </a:rPr>
              <a:t>Team_Challange: TOolBox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Integrantes: César Sánchez, Nicholas Brown, Natalia y Sofía Gómez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ángu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pic>
        <p:nvPicPr>
          <p:cNvPr id="8" name="Marcador de posición de contenido 4" descr="Números digitale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es-ES" dirty="0"/>
              <a:t>Funciones</a:t>
            </a:r>
          </a:p>
        </p:txBody>
      </p:sp>
      <p:graphicFrame>
        <p:nvGraphicFramePr>
          <p:cNvPr id="6" name="Marcador de posición de contenid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946883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Describe_df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9D0920-73D9-52BD-69B1-EECE522F6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55" y="1964168"/>
            <a:ext cx="3409782" cy="40365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Resume las </a:t>
            </a:r>
            <a:r>
              <a:rPr lang="en-US" dirty="0" err="1">
                <a:solidFill>
                  <a:schemeClr val="bg1"/>
                </a:solidFill>
              </a:rPr>
              <a:t>características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cada</a:t>
            </a:r>
            <a:r>
              <a:rPr lang="en-US" dirty="0">
                <a:solidFill>
                  <a:schemeClr val="bg1"/>
                </a:solidFill>
              </a:rPr>
              <a:t> variable del dataset: </a:t>
            </a:r>
            <a:r>
              <a:rPr lang="en-US" dirty="0" err="1">
                <a:solidFill>
                  <a:schemeClr val="bg1"/>
                </a:solidFill>
              </a:rPr>
              <a:t>tipo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porcentaje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nulos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número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valores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únicos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cardinalidad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Nos </a:t>
            </a:r>
            <a:r>
              <a:rPr lang="en-US" dirty="0" err="1">
                <a:solidFill>
                  <a:schemeClr val="bg1"/>
                </a:solidFill>
              </a:rPr>
              <a:t>ayuda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entender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qué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tipo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datos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tenemos</a:t>
            </a:r>
            <a:r>
              <a:rPr lang="en-US" dirty="0">
                <a:solidFill>
                  <a:schemeClr val="bg1"/>
                </a:solidFill>
              </a:rPr>
              <a:t> antes de </a:t>
            </a:r>
            <a:r>
              <a:rPr lang="en-US" dirty="0" err="1">
                <a:solidFill>
                  <a:schemeClr val="bg1"/>
                </a:solidFill>
              </a:rPr>
              <a:t>aplicar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modelos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F7BD04B-BF8A-9A07-BCD6-69CB1FD98D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/>
        </p:blipFill>
        <p:spPr>
          <a:xfrm>
            <a:off x="5692249" y="1111641"/>
            <a:ext cx="4688364" cy="4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8294E-59B3-58AE-61BB-CEF2798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6B4ED67-470C-32E6-D9D1-140EA7259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E0CF0F-6902-1D0A-9D06-69CD55EEB5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787B53-CD8D-723F-9BA4-79DF7D2B9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232B08-03CC-64F5-0168-A95AE4423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526C47E-A492-70C0-7311-E95883AD2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CDE7030-B1BF-17A7-AE55-E6D1FA07B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D822D7-46EB-3E33-795D-6EE50838D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Describe_df</a:t>
            </a: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0FDAA6-54C1-F8B2-206F-9AE2C5269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55" y="1964168"/>
            <a:ext cx="3409782" cy="403658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05435" indent="-305435"/>
            <a:r>
              <a:rPr lang="en-US" dirty="0">
                <a:solidFill>
                  <a:schemeClr val="bg1"/>
                </a:solidFill>
              </a:rPr>
              <a:t>A la </a:t>
            </a:r>
            <a:r>
              <a:rPr lang="en-US" dirty="0" err="1">
                <a:solidFill>
                  <a:schemeClr val="bg1"/>
                </a:solidFill>
              </a:rPr>
              <a:t>funcion</a:t>
            </a:r>
            <a:r>
              <a:rPr lang="en-US" dirty="0">
                <a:solidFill>
                  <a:schemeClr val="bg1"/>
                </a:solidFill>
              </a:rPr>
              <a:t> hay </a:t>
            </a:r>
            <a:r>
              <a:rPr lang="en-US" dirty="0" err="1">
                <a:solidFill>
                  <a:schemeClr val="bg1"/>
                </a:solidFill>
              </a:rPr>
              <a:t>que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pasarle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argumento</a:t>
            </a:r>
            <a:r>
              <a:rPr lang="en-US" dirty="0">
                <a:solidFill>
                  <a:schemeClr val="bg1"/>
                </a:solidFill>
              </a:rPr>
              <a:t> a la </a:t>
            </a:r>
            <a:r>
              <a:rPr lang="en-US" dirty="0" err="1">
                <a:solidFill>
                  <a:schemeClr val="bg1"/>
                </a:solidFill>
              </a:rPr>
              <a:t>funcion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305435" indent="-305435"/>
            <a:r>
              <a:rPr lang="es-ES" dirty="0">
                <a:solidFill>
                  <a:schemeClr val="bg1"/>
                </a:solidFill>
              </a:rPr>
              <a:t>La función </a:t>
            </a:r>
            <a:r>
              <a:rPr lang="es-ES" dirty="0" err="1">
                <a:solidFill>
                  <a:schemeClr val="bg1"/>
                </a:solidFill>
              </a:rPr>
              <a:t>describe_df</a:t>
            </a:r>
            <a:r>
              <a:rPr lang="es-ES" dirty="0">
                <a:solidFill>
                  <a:schemeClr val="bg1"/>
                </a:solidFill>
              </a:rPr>
              <a:t>(</a:t>
            </a:r>
            <a:r>
              <a:rPr lang="es-ES" dirty="0" err="1">
                <a:solidFill>
                  <a:schemeClr val="bg1"/>
                </a:solidFill>
              </a:rPr>
              <a:t>df</a:t>
            </a:r>
            <a:r>
              <a:rPr lang="es-ES" dirty="0">
                <a:solidFill>
                  <a:schemeClr val="bg1"/>
                </a:solidFill>
              </a:rPr>
              <a:t>) devuelve </a:t>
            </a:r>
            <a:r>
              <a:rPr lang="es-ES" b="1" dirty="0">
                <a:solidFill>
                  <a:schemeClr val="bg1"/>
                </a:solidFill>
              </a:rPr>
              <a:t>un </a:t>
            </a:r>
            <a:r>
              <a:rPr lang="es-ES" b="1" dirty="0" err="1">
                <a:solidFill>
                  <a:schemeClr val="bg1"/>
                </a:solidFill>
              </a:rPr>
              <a:t>DataFrame</a:t>
            </a:r>
            <a:r>
              <a:rPr lang="es-ES" b="1" dirty="0">
                <a:solidFill>
                  <a:schemeClr val="bg1"/>
                </a:solidFill>
              </a:rPr>
              <a:t> resumen</a:t>
            </a:r>
            <a:r>
              <a:rPr lang="es-ES" dirty="0">
                <a:solidFill>
                  <a:schemeClr val="bg1"/>
                </a:solidFill>
              </a:rPr>
              <a:t>, donde </a:t>
            </a:r>
            <a:r>
              <a:rPr lang="es-ES" b="1" dirty="0">
                <a:solidFill>
                  <a:schemeClr val="bg1"/>
                </a:solidFill>
              </a:rPr>
              <a:t>cada fila corresponde a una columna del </a:t>
            </a:r>
            <a:r>
              <a:rPr lang="es-ES" b="1" dirty="0" err="1">
                <a:solidFill>
                  <a:schemeClr val="bg1"/>
                </a:solidFill>
              </a:rPr>
              <a:t>DataFrame</a:t>
            </a:r>
            <a:r>
              <a:rPr lang="es-ES" b="1" dirty="0">
                <a:solidFill>
                  <a:schemeClr val="bg1"/>
                </a:solidFill>
              </a:rPr>
              <a:t> original</a:t>
            </a:r>
            <a:r>
              <a:rPr lang="es-ES" dirty="0">
                <a:solidFill>
                  <a:schemeClr val="bg1"/>
                </a:solidFill>
              </a:rPr>
              <a:t>, y </a:t>
            </a:r>
            <a:r>
              <a:rPr lang="es-ES" b="1" dirty="0">
                <a:solidFill>
                  <a:schemeClr val="bg1"/>
                </a:solidFill>
              </a:rPr>
              <a:t>cada columna del resumen contiene una métrica descriptiva</a:t>
            </a:r>
            <a:r>
              <a:rPr lang="es-ES" dirty="0">
                <a:solidFill>
                  <a:schemeClr val="bg1"/>
                </a:solidFill>
              </a:rPr>
              <a:t> sobre esa variable</a:t>
            </a:r>
            <a:r>
              <a:rPr lang="es-ES" dirty="0"/>
              <a:t>.</a:t>
            </a:r>
            <a:r>
              <a:rPr lang="en-US" dirty="0">
                <a:solidFill>
                  <a:schemeClr val="bg1"/>
                </a:solidFill>
              </a:rPr>
              <a:t> </a:t>
            </a:r>
          </a:p>
          <a:p>
            <a:pPr marL="305435" indent="-305435"/>
            <a:endParaRPr lang="es-ES" dirty="0"/>
          </a:p>
          <a:p>
            <a:pPr marL="305435" indent="-305435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Marcador de contenido 4" descr="Texto&#10;&#10;El contenido generado por IA puede ser incorrecto.">
            <a:extLst>
              <a:ext uri="{FF2B5EF4-FFF2-40B4-BE49-F238E27FC236}">
                <a16:creationId xmlns:a16="http://schemas.microsoft.com/office/drawing/2014/main" id="{D26E71D3-6B9E-BE7B-873B-AEAA3A9F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470" y="698462"/>
            <a:ext cx="5354537" cy="571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6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BDC75-6DBE-E248-3C8F-C8702207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F0ADD9-D480-D5E6-8057-2ED3192A4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223" y="12090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Tipifica_variables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889697-D5C9-ECE2-3261-33D2E5A79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224" y="2292707"/>
            <a:ext cx="3409782" cy="31832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dirty="0">
                <a:solidFill>
                  <a:schemeClr val="bg1"/>
                </a:solidFill>
              </a:rPr>
              <a:t>Clasifica automáticamente cada variable como binaria, categórica, numérica continua o discreta, según su cardinalidad. </a:t>
            </a:r>
          </a:p>
          <a:p>
            <a:pPr marL="0" indent="0"/>
            <a:r>
              <a:rPr lang="en-US" dirty="0">
                <a:solidFill>
                  <a:schemeClr val="bg1"/>
                </a:solidFill>
              </a:rPr>
              <a:t>Es útil para saber qué tratamiento darle a cada variable en el modelo.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C9BD0D1D-6F31-D441-34C3-060309982E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/>
        </p:blipFill>
        <p:spPr>
          <a:xfrm>
            <a:off x="6684204" y="1111641"/>
            <a:ext cx="2704455" cy="4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9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29FFB-350A-D17B-0988-49C8B94D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9A8595E-348B-9347-5A57-1220DEB8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75E426-0064-90A1-D80E-70B4F073D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5910C3-C6C7-904C-396D-C85678FD1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4CDF3A-372B-1BD3-AF3E-0A794232F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BDAEC6C-4B75-F63D-43C4-D21BF1BB0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8D54CF-70E2-25B6-9B9D-2EC88E96D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FA9666-D142-BAD2-8C1C-286836EA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223" y="12090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Tipifica_variables</a:t>
            </a:r>
            <a:br>
              <a:rPr lang="en-US" dirty="0"/>
            </a:br>
            <a:endParaRPr lang="en-U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25F6AD-94A5-DC31-470A-D05D6EC9D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224" y="2292707"/>
            <a:ext cx="3409782" cy="318324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Esta </a:t>
            </a:r>
            <a:r>
              <a:rPr lang="en-US" dirty="0" err="1">
                <a:solidFill>
                  <a:schemeClr val="bg1"/>
                </a:solidFill>
              </a:rPr>
              <a:t>funcion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recibe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argumento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Devuelve</a:t>
            </a:r>
            <a:r>
              <a:rPr lang="en-US" dirty="0">
                <a:solidFill>
                  <a:schemeClr val="bg1"/>
                </a:solidFill>
              </a:rPr>
              <a:t> un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r>
              <a:rPr lang="en-US" dirty="0">
                <a:solidFill>
                  <a:schemeClr val="bg1"/>
                </a:solidFill>
              </a:rPr>
              <a:t> con </a:t>
            </a:r>
            <a:r>
              <a:rPr lang="en-US" dirty="0" err="1">
                <a:solidFill>
                  <a:schemeClr val="bg1"/>
                </a:solidFill>
              </a:rPr>
              <a:t>cada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una</a:t>
            </a:r>
            <a:r>
              <a:rPr lang="en-US" dirty="0">
                <a:solidFill>
                  <a:schemeClr val="bg1"/>
                </a:solidFill>
              </a:rPr>
              <a:t> de las variables </a:t>
            </a:r>
            <a:r>
              <a:rPr lang="en-US" dirty="0" err="1">
                <a:solidFill>
                  <a:schemeClr val="bg1"/>
                </a:solidFill>
              </a:rPr>
              <a:t>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clasidicada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9C43996-A67C-6DB1-FADB-D21A392E0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344" y="732821"/>
            <a:ext cx="5768568" cy="5392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96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516C5-1D0C-3904-2922-FD0DF3012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5E2A55A-2795-E569-B08A-A27E0A21B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E2B43A-2D0F-43FD-C464-2AAE41F7E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BCA72D-EF8D-926B-8AEF-D9CC1F3E3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0CB525-58A3-A90C-8BED-771AA20AF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36269FC-2F2B-7CF5-96E5-16F3BE369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541D25-4CDD-F0C0-8D51-931389DB9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C25AF2-1A48-0025-0EB4-5E9942FC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80" y="1020674"/>
            <a:ext cx="3640574" cy="856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1700" dirty="0"/>
              <a:t>Get_features_num_regression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4C9461-B37A-3E23-BC34-9B0CD67A2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224" y="1908506"/>
            <a:ext cx="3409782" cy="31457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Selecciona las variables numéricas que tienen alta correlación y significancia estadística con el target.</a:t>
            </a:r>
          </a:p>
          <a:p>
            <a:r>
              <a:rPr lang="es-MX" dirty="0">
                <a:solidFill>
                  <a:schemeClr val="bg1"/>
                </a:solidFill>
              </a:rPr>
              <a:t> Nos ayuda a elegir buenas variables predictoras para regresión.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43EE147-580D-74C5-C17A-A6C77B94B7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5450023" y="2638620"/>
            <a:ext cx="5952545" cy="15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3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FD2BD-10C0-BA15-C143-582FDD3A6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671F21C-611E-B11B-AC2D-2262124B90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400C1E-7C0A-FB85-4938-32467E2C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EC5C6C4-4612-A3B6-1E80-4B40CCC79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016650-7A98-250A-D7AF-911E56A24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67A6E05-59CF-6168-6EB9-75F85FC37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78204C-8894-FA12-D1E9-7FDE2BC33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5E29C1-9857-685D-DF7F-17DEFFEE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80" y="1020674"/>
            <a:ext cx="3640574" cy="856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1700" dirty="0"/>
              <a:t>Get_features_num_regression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4C4B1B-6A87-8158-BDD8-21014DB10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223" y="1655063"/>
            <a:ext cx="3510915" cy="4571115"/>
          </a:xfr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r>
              <a:rPr lang="es-MX" sz="4900" dirty="0">
                <a:solidFill>
                  <a:schemeClr val="bg1"/>
                </a:solidFill>
              </a:rPr>
              <a:t>Los argumentos que introducimos en la función son los siguientes:</a:t>
            </a:r>
          </a:p>
          <a:p>
            <a:pPr lvl="1"/>
            <a:r>
              <a:rPr lang="es-MX" sz="4900" dirty="0" err="1">
                <a:solidFill>
                  <a:schemeClr val="bg1"/>
                </a:solidFill>
              </a:rPr>
              <a:t>df</a:t>
            </a:r>
            <a:r>
              <a:rPr lang="es-MX" sz="4900" dirty="0">
                <a:solidFill>
                  <a:schemeClr val="bg1"/>
                </a:solidFill>
              </a:rPr>
              <a:t> = Introducimos el </a:t>
            </a:r>
            <a:r>
              <a:rPr lang="es-MX" sz="4900" dirty="0" err="1">
                <a:solidFill>
                  <a:schemeClr val="bg1"/>
                </a:solidFill>
              </a:rPr>
              <a:t>dataframe</a:t>
            </a:r>
            <a:endParaRPr lang="es-MX" sz="4900" dirty="0">
              <a:solidFill>
                <a:schemeClr val="bg1"/>
              </a:solidFill>
            </a:endParaRPr>
          </a:p>
          <a:p>
            <a:pPr lvl="1"/>
            <a:r>
              <a:rPr lang="es-MX" sz="4900" dirty="0">
                <a:solidFill>
                  <a:schemeClr val="bg1"/>
                </a:solidFill>
              </a:rPr>
              <a:t>Target col: introducimos el nombre de la variable objetivo el target como un </a:t>
            </a:r>
            <a:r>
              <a:rPr lang="es-MX" sz="4900" dirty="0" err="1">
                <a:solidFill>
                  <a:schemeClr val="bg1"/>
                </a:solidFill>
              </a:rPr>
              <a:t>string</a:t>
            </a:r>
            <a:r>
              <a:rPr lang="es-MX" sz="49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ES" sz="4900" dirty="0">
                <a:solidFill>
                  <a:schemeClr val="bg1"/>
                </a:solidFill>
              </a:rPr>
              <a:t>Un número entre 0 y 1 que indica el </a:t>
            </a:r>
            <a:r>
              <a:rPr lang="es-ES" sz="4900" b="1" dirty="0">
                <a:solidFill>
                  <a:schemeClr val="bg1"/>
                </a:solidFill>
              </a:rPr>
              <a:t>mínimo valor absoluto de correlación</a:t>
            </a:r>
            <a:r>
              <a:rPr lang="es-ES" sz="4900" dirty="0">
                <a:solidFill>
                  <a:schemeClr val="bg1"/>
                </a:solidFill>
              </a:rPr>
              <a:t> para seleccionar una variable.</a:t>
            </a:r>
          </a:p>
          <a:p>
            <a:pPr lvl="1"/>
            <a:r>
              <a:rPr lang="es-ES" sz="4900" dirty="0" err="1">
                <a:solidFill>
                  <a:schemeClr val="bg1"/>
                </a:solidFill>
              </a:rPr>
              <a:t>Pvalue</a:t>
            </a:r>
            <a:r>
              <a:rPr lang="es-ES" sz="4900" dirty="0">
                <a:solidFill>
                  <a:schemeClr val="bg1"/>
                </a:solidFill>
              </a:rPr>
              <a:t> es opcional. Un número entre 0 y 1. Si lo proporcionas, la función </a:t>
            </a:r>
            <a:r>
              <a:rPr lang="es-ES" sz="4900" b="1" dirty="0">
                <a:solidFill>
                  <a:schemeClr val="bg1"/>
                </a:solidFill>
              </a:rPr>
              <a:t>solo selecciona variables cuya correlación sea estadísticamente significativa</a:t>
            </a:r>
            <a:r>
              <a:rPr lang="es-ES" sz="4900" dirty="0">
                <a:solidFill>
                  <a:schemeClr val="bg1"/>
                </a:solidFill>
              </a:rPr>
              <a:t> según ese nivel.</a:t>
            </a:r>
          </a:p>
          <a:p>
            <a:pPr marL="306000" lvl="1"/>
            <a:r>
              <a:rPr lang="es-ES" sz="4900" dirty="0">
                <a:solidFill>
                  <a:schemeClr val="bg1"/>
                </a:solidFill>
              </a:rPr>
              <a:t>La función devuelve una lista de variables numéricas relevantes para un modelo de regresión</a:t>
            </a:r>
            <a:endParaRPr lang="es-MX" sz="4900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B4D30133-17E3-8DBF-F780-1B81C31C4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784" y="594360"/>
            <a:ext cx="4352780" cy="5886185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23788CA9-E944-FF43-E123-EB75BC5C5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935" y="681278"/>
            <a:ext cx="3342420" cy="3093450"/>
          </a:xfrm>
          <a:prstGeom prst="rect">
            <a:avLst/>
          </a:prstGeom>
        </p:spPr>
      </p:pic>
      <p:cxnSp>
        <p:nvCxnSpPr>
          <p:cNvPr id="22" name="Conector: curvado 21">
            <a:extLst>
              <a:ext uri="{FF2B5EF4-FFF2-40B4-BE49-F238E27FC236}">
                <a16:creationId xmlns:a16="http://schemas.microsoft.com/office/drawing/2014/main" id="{3F393DF2-8915-1621-E2B3-5154CE2732BF}"/>
              </a:ext>
            </a:extLst>
          </p:cNvPr>
          <p:cNvCxnSpPr>
            <a:stCxn id="10" idx="1"/>
          </p:cNvCxnSpPr>
          <p:nvPr/>
        </p:nvCxnSpPr>
        <p:spPr>
          <a:xfrm>
            <a:off x="8784005" y="2228003"/>
            <a:ext cx="914400" cy="9144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6E39BA43-4D0C-5FE4-523F-D6AA0376A694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 rot="5400000" flipH="1" flipV="1">
            <a:off x="5437783" y="3125393"/>
            <a:ext cx="4252542" cy="2457761"/>
          </a:xfrm>
          <a:prstGeom prst="bentConnector4">
            <a:avLst>
              <a:gd name="adj1" fmla="val -5376"/>
              <a:gd name="adj2" fmla="val 9427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89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8593D-248A-019C-D6F6-7E4440BE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5FB69C-9241-FF1F-74AE-7DE7E2EE1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665260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Plot_features_num_regression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EDB84E-2BB4-638E-E3DE-2A1A194D0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56" y="2042230"/>
            <a:ext cx="3409782" cy="31051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 </a:t>
            </a:r>
            <a:r>
              <a:rPr lang="en-US" dirty="0" err="1">
                <a:solidFill>
                  <a:schemeClr val="bg1"/>
                </a:solidFill>
              </a:rPr>
              <a:t>gráficos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pairplot</a:t>
            </a:r>
            <a:r>
              <a:rPr lang="en-US" dirty="0">
                <a:solidFill>
                  <a:schemeClr val="bg1"/>
                </a:solidFill>
              </a:rPr>
              <a:t> para </a:t>
            </a:r>
            <a:r>
              <a:rPr lang="en-US" dirty="0" err="1">
                <a:solidFill>
                  <a:schemeClr val="bg1"/>
                </a:solidFill>
              </a:rPr>
              <a:t>visualizar</a:t>
            </a:r>
            <a:r>
              <a:rPr lang="en-US" dirty="0">
                <a:solidFill>
                  <a:schemeClr val="bg1"/>
                </a:solidFill>
              </a:rPr>
              <a:t> la </a:t>
            </a:r>
            <a:r>
              <a:rPr lang="en-US" dirty="0" err="1">
                <a:solidFill>
                  <a:schemeClr val="bg1"/>
                </a:solidFill>
              </a:rPr>
              <a:t>relación</a:t>
            </a:r>
            <a:r>
              <a:rPr lang="en-US" dirty="0">
                <a:solidFill>
                  <a:schemeClr val="bg1"/>
                </a:solidFill>
              </a:rPr>
              <a:t> entre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en-US" dirty="0">
                <a:solidFill>
                  <a:schemeClr val="bg1"/>
                </a:solidFill>
              </a:rPr>
              <a:t> target y las variables </a:t>
            </a:r>
            <a:r>
              <a:rPr lang="en-US" dirty="0" err="1">
                <a:solidFill>
                  <a:schemeClr val="bg1"/>
                </a:solidFill>
              </a:rPr>
              <a:t>numéricas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seleccionadas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Sirve para validar visualmente si hay patrones útiles.</a:t>
            </a:r>
          </a:p>
          <a:p>
            <a:pPr marL="0" indent="0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2B2F550-1D97-6B67-55E6-FEACC3E8FA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/>
        </p:blipFill>
        <p:spPr>
          <a:xfrm>
            <a:off x="6400800" y="977462"/>
            <a:ext cx="5576261" cy="5576261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C3CEA476-0C2E-FB7D-4CAA-29DBD8C19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823" y="752908"/>
            <a:ext cx="2039007" cy="105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3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8E02C-024E-5329-1ACA-36A93455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4AA061-7F8E-3CE6-D038-A4420275C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1D9A4C-CACE-84DD-F5D0-28E2FE09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79B15D-CF1B-EFD6-FF9D-CD00F230A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635102-AC49-5C7D-4800-A73522577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178AE957-B391-B682-64D9-57EB5AA0E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520B89-AC3F-F8EE-85FB-EA1F990E6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66FF9C-AA09-C5D8-CE52-F990EBAAD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28300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Plot_features_num_regression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310CF8-5AE5-8BD1-3BD4-FF105C9B3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56" y="1296806"/>
            <a:ext cx="3409782" cy="4895934"/>
          </a:xfr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r>
              <a:rPr lang="es-MX" sz="2500" dirty="0">
                <a:solidFill>
                  <a:schemeClr val="bg1"/>
                </a:solidFill>
              </a:rPr>
              <a:t>Los argumentos que introducimos en la función son los siguientes: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df</a:t>
            </a:r>
            <a:r>
              <a:rPr lang="es-MX" sz="2500" dirty="0">
                <a:solidFill>
                  <a:schemeClr val="bg1"/>
                </a:solidFill>
              </a:rPr>
              <a:t>= introducimos el </a:t>
            </a:r>
            <a:r>
              <a:rPr lang="es-MX" sz="2500" dirty="0" err="1">
                <a:solidFill>
                  <a:schemeClr val="bg1"/>
                </a:solidFill>
              </a:rPr>
              <a:t>dataframe</a:t>
            </a:r>
            <a:r>
              <a:rPr lang="es-MX" sz="25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Target_col</a:t>
            </a:r>
            <a:r>
              <a:rPr lang="es-MX" sz="2500" dirty="0">
                <a:solidFill>
                  <a:schemeClr val="bg1"/>
                </a:solidFill>
              </a:rPr>
              <a:t>= </a:t>
            </a:r>
            <a:r>
              <a:rPr lang="es-ES" sz="2500" dirty="0">
                <a:solidFill>
                  <a:schemeClr val="bg1"/>
                </a:solidFill>
              </a:rPr>
              <a:t>Nombre de la variable objetivo (</a:t>
            </a:r>
            <a:r>
              <a:rPr lang="es-ES" sz="2500" dirty="0" err="1">
                <a:solidFill>
                  <a:schemeClr val="bg1"/>
                </a:solidFill>
              </a:rPr>
              <a:t>string</a:t>
            </a:r>
            <a:r>
              <a:rPr lang="es-ES" sz="2500" dirty="0">
                <a:solidFill>
                  <a:schemeClr val="bg1"/>
                </a:solidFill>
              </a:rPr>
              <a:t>). Debe ser numérica y continua.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Columns</a:t>
            </a:r>
            <a:r>
              <a:rPr lang="es-MX" sz="2500" dirty="0">
                <a:solidFill>
                  <a:schemeClr val="bg1"/>
                </a:solidFill>
              </a:rPr>
              <a:t>=</a:t>
            </a:r>
            <a:r>
              <a:rPr lang="es-ES" sz="2500" dirty="0">
                <a:solidFill>
                  <a:schemeClr val="bg1"/>
                </a:solidFill>
              </a:rPr>
              <a:t>Una lista de columnas que quieres evaluar. Si la dejas vacía ([]), evalúa </a:t>
            </a:r>
            <a:r>
              <a:rPr lang="es-ES" sz="2500" b="1" dirty="0">
                <a:solidFill>
                  <a:schemeClr val="bg1"/>
                </a:solidFill>
              </a:rPr>
              <a:t>todas las numéricas</a:t>
            </a:r>
            <a:r>
              <a:rPr lang="es-ES" sz="2500" dirty="0">
                <a:solidFill>
                  <a:schemeClr val="bg1"/>
                </a:solidFill>
              </a:rPr>
              <a:t> excepto el target.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Umbral_corr</a:t>
            </a:r>
            <a:r>
              <a:rPr lang="es-MX" sz="2500" dirty="0">
                <a:solidFill>
                  <a:schemeClr val="bg1"/>
                </a:solidFill>
              </a:rPr>
              <a:t>=</a:t>
            </a:r>
            <a:r>
              <a:rPr lang="es-ES" sz="2500" dirty="0">
                <a:solidFill>
                  <a:schemeClr val="bg1"/>
                </a:solidFill>
              </a:rPr>
              <a:t>Un número entre 0 y 1. Es el </a:t>
            </a:r>
            <a:r>
              <a:rPr lang="es-ES" sz="2500" b="1" dirty="0">
                <a:solidFill>
                  <a:schemeClr val="bg1"/>
                </a:solidFill>
              </a:rPr>
              <a:t>mínimo valor absoluto de correlación</a:t>
            </a:r>
            <a:r>
              <a:rPr lang="es-ES" sz="2500" dirty="0">
                <a:solidFill>
                  <a:schemeClr val="bg1"/>
                </a:solidFill>
              </a:rPr>
              <a:t> para seleccionar una variable.</a:t>
            </a:r>
          </a:p>
          <a:p>
            <a:pPr lvl="1"/>
            <a:r>
              <a:rPr lang="es-ES" sz="2500" dirty="0" err="1">
                <a:solidFill>
                  <a:schemeClr val="bg1"/>
                </a:solidFill>
              </a:rPr>
              <a:t>Pvalue</a:t>
            </a:r>
            <a:r>
              <a:rPr lang="es-ES" sz="2500" dirty="0">
                <a:solidFill>
                  <a:schemeClr val="bg1"/>
                </a:solidFill>
              </a:rPr>
              <a:t>=Si lo pones, filtra también por significación estadística (p‑</a:t>
            </a:r>
            <a:r>
              <a:rPr lang="es-ES" sz="2500" dirty="0" err="1">
                <a:solidFill>
                  <a:schemeClr val="bg1"/>
                </a:solidFill>
              </a:rPr>
              <a:t>value</a:t>
            </a:r>
            <a:r>
              <a:rPr lang="es-ES" sz="2500" dirty="0">
                <a:solidFill>
                  <a:schemeClr val="bg1"/>
                </a:solidFill>
              </a:rPr>
              <a:t> ≤ ese valor). Si NO lo pones → </a:t>
            </a:r>
            <a:r>
              <a:rPr lang="es-ES" sz="2500" b="1" dirty="0">
                <a:solidFill>
                  <a:schemeClr val="bg1"/>
                </a:solidFill>
              </a:rPr>
              <a:t>no aplica filtro de p‑</a:t>
            </a:r>
            <a:r>
              <a:rPr lang="es-ES" sz="2500" b="1" dirty="0" err="1">
                <a:solidFill>
                  <a:schemeClr val="bg1"/>
                </a:solidFill>
              </a:rPr>
              <a:t>value</a:t>
            </a:r>
            <a:endParaRPr lang="es-MX" sz="2500" dirty="0">
              <a:solidFill>
                <a:schemeClr val="bg1"/>
              </a:solidFill>
            </a:endParaRPr>
          </a:p>
          <a:p>
            <a:pPr marL="0" indent="0"/>
            <a:r>
              <a:rPr lang="en-US" sz="2500" dirty="0">
                <a:solidFill>
                  <a:schemeClr val="bg1"/>
                </a:solidFill>
              </a:rPr>
              <a:t> La </a:t>
            </a:r>
            <a:r>
              <a:rPr lang="en-US" sz="2500" dirty="0" err="1">
                <a:solidFill>
                  <a:schemeClr val="bg1"/>
                </a:solidFill>
              </a:rPr>
              <a:t>funcion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nos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devuelve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s-ES" sz="2500" b="1" dirty="0">
                <a:solidFill>
                  <a:schemeClr val="bg1"/>
                </a:solidFill>
              </a:rPr>
              <a:t>lista de nombres de columnas numéricas</a:t>
            </a:r>
            <a:r>
              <a:rPr lang="es-ES" sz="2500" dirty="0">
                <a:solidFill>
                  <a:schemeClr val="bg1"/>
                </a:solidFill>
              </a:rPr>
              <a:t> que cumplen:</a:t>
            </a:r>
            <a:endParaRPr lang="en-US" sz="2500" dirty="0">
              <a:solidFill>
                <a:schemeClr val="bg1"/>
              </a:solidFill>
            </a:endParaRPr>
          </a:p>
          <a:p>
            <a:r>
              <a:rPr lang="es-ES" sz="2500" dirty="0">
                <a:solidFill>
                  <a:schemeClr val="bg1"/>
                </a:solidFill>
              </a:rPr>
              <a:t>Son numéricas</a:t>
            </a:r>
          </a:p>
          <a:p>
            <a:r>
              <a:rPr lang="es-ES" sz="2500" dirty="0">
                <a:solidFill>
                  <a:schemeClr val="bg1"/>
                </a:solidFill>
              </a:rPr>
              <a:t>No son el target</a:t>
            </a:r>
          </a:p>
          <a:p>
            <a:r>
              <a:rPr lang="es-ES" sz="2500" dirty="0">
                <a:solidFill>
                  <a:schemeClr val="bg1"/>
                </a:solidFill>
              </a:rPr>
              <a:t>Tienen |correlación| ≥ </a:t>
            </a:r>
            <a:r>
              <a:rPr lang="es-ES" sz="2500" dirty="0" err="1">
                <a:solidFill>
                  <a:schemeClr val="bg1"/>
                </a:solidFill>
              </a:rPr>
              <a:t>umbral_corr</a:t>
            </a:r>
            <a:endParaRPr lang="es-ES" sz="2500" dirty="0">
              <a:solidFill>
                <a:schemeClr val="bg1"/>
              </a:solidFill>
            </a:endParaRPr>
          </a:p>
          <a:p>
            <a:r>
              <a:rPr lang="es-ES" sz="2500" dirty="0">
                <a:solidFill>
                  <a:schemeClr val="bg1"/>
                </a:solidFill>
              </a:rPr>
              <a:t>(Opcional) Tienen p‑</a:t>
            </a:r>
            <a:r>
              <a:rPr lang="es-ES" sz="2500" dirty="0" err="1">
                <a:solidFill>
                  <a:schemeClr val="bg1"/>
                </a:solidFill>
              </a:rPr>
              <a:t>value</a:t>
            </a:r>
            <a:r>
              <a:rPr lang="es-ES" sz="2500" dirty="0">
                <a:solidFill>
                  <a:schemeClr val="bg1"/>
                </a:solidFill>
              </a:rPr>
              <a:t> ≤ </a:t>
            </a:r>
            <a:r>
              <a:rPr lang="es-ES" sz="2500" dirty="0" err="1">
                <a:solidFill>
                  <a:schemeClr val="bg1"/>
                </a:solidFill>
              </a:rPr>
              <a:t>pvalue</a:t>
            </a:r>
            <a:endParaRPr lang="es-ES" sz="2500" dirty="0">
              <a:solidFill>
                <a:schemeClr val="bg1"/>
              </a:solidFill>
            </a:endParaRPr>
          </a:p>
          <a:p>
            <a:pPr marL="0" indent="0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BE3A8C7-0FE2-A050-6263-12E8F920C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842" y="610849"/>
            <a:ext cx="3795296" cy="5866927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2A32D331-EAC6-274E-2C33-9AD42CE5C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181" y="610849"/>
            <a:ext cx="3449916" cy="5834561"/>
          </a:xfrm>
          <a:prstGeom prst="rect">
            <a:avLst/>
          </a:prstGeom>
        </p:spPr>
      </p:pic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7A8AFD54-F9AD-A16E-BAF5-2E142FA28076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 flipH="1" flipV="1">
            <a:off x="5313350" y="1390988"/>
            <a:ext cx="5866927" cy="4306649"/>
          </a:xfrm>
          <a:prstGeom prst="bentConnector5">
            <a:avLst>
              <a:gd name="adj1" fmla="val -3896"/>
              <a:gd name="adj2" fmla="val 52005"/>
              <a:gd name="adj3" fmla="val 10389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980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B73C18-BC7A-A4AD-CA56-ACD0EFA1C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D4A0369-AAC6-1AFA-CDF4-FB41F9DCD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5F9E40-6EC1-0145-CF53-66B993131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A9C119-EFBE-25C7-C6C3-F2C108F1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81F395-9D04-7123-0E49-147D3121E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D990D14-3F32-0175-F437-8861CFB33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EE6C31-D19C-9932-F989-D02B0D894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1D0D22-FBE9-50AE-CEFA-B12500B4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80" y="1009186"/>
            <a:ext cx="3640574" cy="856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1700" dirty="0"/>
              <a:t>Get_features_cat_regression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605A6F-9839-3895-8CD5-AED7E216E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1224" y="1908506"/>
            <a:ext cx="3409782" cy="31457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Selecciona las variables categóricas que tienen una relación estadísticamente significativa con el target. </a:t>
            </a:r>
          </a:p>
          <a:p>
            <a:r>
              <a:rPr lang="es-MX" dirty="0">
                <a:solidFill>
                  <a:schemeClr val="bg1"/>
                </a:solidFill>
              </a:rPr>
              <a:t>Nos permite incluir variables categóricas relevantes en el modelo.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752B6C74-B54E-2FE7-09F7-1024B97931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5267143" y="2439853"/>
            <a:ext cx="6172065" cy="196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07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94DA86-FD31-49FF-C21E-EB20488A2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98C51F50-05EE-D411-1FD4-ACD1CD14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E0081E-39AF-718C-C912-DC23A2F40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DF85B9-E2E4-A54A-52B1-7BA992BC8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BB7EE9-93C4-820A-7184-B554DE6D3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0945AA7-82D5-CA5A-D60B-DF043A37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4E58F3-3C72-4BEA-C105-FF9665610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EDD6B3-8B41-E024-C358-387F0A4C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86" y="518614"/>
            <a:ext cx="3640574" cy="8567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z="1700" dirty="0"/>
              <a:t>Get_features_cat_regression</a:t>
            </a:r>
            <a:br>
              <a:rPr lang="en-US" sz="1700" dirty="0"/>
            </a:br>
            <a:endParaRPr lang="en-US" sz="17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C8EF6D-8588-566C-D106-8425C74F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831" y="1150837"/>
            <a:ext cx="3409782" cy="5769371"/>
          </a:xfrm>
        </p:spPr>
        <p:txBody>
          <a:bodyPr vert="horz" lIns="91440" tIns="45720" rIns="91440" bIns="45720" rtlCol="0" anchor="ctr">
            <a:normAutofit fontScale="47500" lnSpcReduction="20000"/>
          </a:bodyPr>
          <a:lstStyle/>
          <a:p>
            <a:r>
              <a:rPr lang="es-MX" sz="2500" dirty="0">
                <a:solidFill>
                  <a:schemeClr val="bg1"/>
                </a:solidFill>
              </a:rPr>
              <a:t>Los argumentos que introducimos en la función son los siguientes: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df</a:t>
            </a:r>
            <a:r>
              <a:rPr lang="es-MX" sz="2500" dirty="0">
                <a:solidFill>
                  <a:schemeClr val="bg1"/>
                </a:solidFill>
              </a:rPr>
              <a:t>= introducimos el </a:t>
            </a:r>
            <a:r>
              <a:rPr lang="es-MX" sz="2500" dirty="0" err="1">
                <a:solidFill>
                  <a:schemeClr val="bg1"/>
                </a:solidFill>
              </a:rPr>
              <a:t>dataframe</a:t>
            </a:r>
            <a:r>
              <a:rPr lang="es-MX" sz="25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MX" sz="2500" dirty="0" err="1">
                <a:solidFill>
                  <a:schemeClr val="bg1"/>
                </a:solidFill>
              </a:rPr>
              <a:t>Target_col</a:t>
            </a:r>
            <a:r>
              <a:rPr lang="es-MX" sz="2500" dirty="0">
                <a:solidFill>
                  <a:schemeClr val="bg1"/>
                </a:solidFill>
              </a:rPr>
              <a:t>= </a:t>
            </a:r>
            <a:r>
              <a:rPr lang="es-ES" sz="2500" dirty="0">
                <a:solidFill>
                  <a:schemeClr val="bg1"/>
                </a:solidFill>
              </a:rPr>
              <a:t>Nombre de la variable objetivo (</a:t>
            </a:r>
            <a:r>
              <a:rPr lang="es-ES" sz="2500" dirty="0" err="1">
                <a:solidFill>
                  <a:schemeClr val="bg1"/>
                </a:solidFill>
              </a:rPr>
              <a:t>string</a:t>
            </a:r>
            <a:r>
              <a:rPr lang="es-ES" sz="2500" dirty="0">
                <a:solidFill>
                  <a:schemeClr val="bg1"/>
                </a:solidFill>
              </a:rPr>
              <a:t>). </a:t>
            </a:r>
            <a:r>
              <a:rPr lang="es-MX" sz="2500" dirty="0" err="1">
                <a:solidFill>
                  <a:schemeClr val="bg1"/>
                </a:solidFill>
              </a:rPr>
              <a:t>Columns</a:t>
            </a:r>
            <a:r>
              <a:rPr lang="es-MX" sz="2500" dirty="0">
                <a:solidFill>
                  <a:schemeClr val="bg1"/>
                </a:solidFill>
              </a:rPr>
              <a:t>=</a:t>
            </a:r>
            <a:r>
              <a:rPr lang="es-ES" sz="2500" dirty="0">
                <a:solidFill>
                  <a:schemeClr val="bg1"/>
                </a:solidFill>
              </a:rPr>
              <a:t>Lista de columnas categóricas a evaluar. Si no pasas nada (</a:t>
            </a:r>
            <a:r>
              <a:rPr lang="es-ES" sz="2500" dirty="0" err="1">
                <a:solidFill>
                  <a:schemeClr val="bg1"/>
                </a:solidFill>
              </a:rPr>
              <a:t>None</a:t>
            </a:r>
            <a:r>
              <a:rPr lang="es-ES" sz="2500" dirty="0">
                <a:solidFill>
                  <a:schemeClr val="bg1"/>
                </a:solidFill>
              </a:rPr>
              <a:t>), la función selecciona todas las columnas categóricas del </a:t>
            </a:r>
            <a:r>
              <a:rPr lang="es-ES" sz="2500" dirty="0" err="1">
                <a:solidFill>
                  <a:schemeClr val="bg1"/>
                </a:solidFill>
              </a:rPr>
              <a:t>DataFrame</a:t>
            </a:r>
            <a:endParaRPr lang="es-ES" sz="2500" dirty="0">
              <a:solidFill>
                <a:schemeClr val="bg1"/>
              </a:solidFill>
            </a:endParaRPr>
          </a:p>
          <a:p>
            <a:pPr lvl="1"/>
            <a:r>
              <a:rPr lang="es-ES" sz="2500" dirty="0" err="1">
                <a:solidFill>
                  <a:schemeClr val="bg1"/>
                </a:solidFill>
              </a:rPr>
              <a:t>Pvalue</a:t>
            </a:r>
            <a:r>
              <a:rPr lang="es-ES" sz="2500" dirty="0">
                <a:solidFill>
                  <a:schemeClr val="bg1"/>
                </a:solidFill>
              </a:rPr>
              <a:t>=Si lo pones, filtra también por significación estadística (p‑</a:t>
            </a:r>
            <a:r>
              <a:rPr lang="es-ES" sz="2500" dirty="0" err="1">
                <a:solidFill>
                  <a:schemeClr val="bg1"/>
                </a:solidFill>
              </a:rPr>
              <a:t>value</a:t>
            </a:r>
            <a:r>
              <a:rPr lang="es-ES" sz="2500" dirty="0">
                <a:solidFill>
                  <a:schemeClr val="bg1"/>
                </a:solidFill>
              </a:rPr>
              <a:t> ≤ ese valor). Si NO lo pones → </a:t>
            </a:r>
            <a:r>
              <a:rPr lang="es-ES" sz="2500" b="1" dirty="0">
                <a:solidFill>
                  <a:schemeClr val="bg1"/>
                </a:solidFill>
              </a:rPr>
              <a:t>no aplica filtro de p‑</a:t>
            </a:r>
            <a:r>
              <a:rPr lang="es-ES" sz="2500" b="1" dirty="0" err="1">
                <a:solidFill>
                  <a:schemeClr val="bg1"/>
                </a:solidFill>
              </a:rPr>
              <a:t>value</a:t>
            </a:r>
            <a:endParaRPr lang="es-ES" sz="2500" b="1" dirty="0">
              <a:solidFill>
                <a:schemeClr val="bg1"/>
              </a:solidFill>
            </a:endParaRPr>
          </a:p>
          <a:p>
            <a:pPr lvl="1"/>
            <a:r>
              <a:rPr lang="es-ES" sz="2500" dirty="0" err="1">
                <a:solidFill>
                  <a:schemeClr val="bg1"/>
                </a:solidFill>
              </a:rPr>
              <a:t>with_individual_plot</a:t>
            </a:r>
            <a:r>
              <a:rPr lang="es-ES" sz="2500" dirty="0">
                <a:solidFill>
                  <a:schemeClr val="bg1"/>
                </a:solidFill>
              </a:rPr>
              <a:t> (opcional, False por defecto): Si lo pones en True, genera histogramas del target por categoría para cada variable significativa.</a:t>
            </a:r>
          </a:p>
          <a:p>
            <a:r>
              <a:rPr lang="es-ES" sz="2500" dirty="0">
                <a:solidFill>
                  <a:schemeClr val="bg1"/>
                </a:solidFill>
              </a:rPr>
              <a:t>La función devuelve una lista de nombres de columnas categóricas:</a:t>
            </a:r>
          </a:p>
          <a:p>
            <a:pPr lvl="1"/>
            <a:r>
              <a:rPr lang="es-ES" sz="2500" dirty="0">
                <a:solidFill>
                  <a:schemeClr val="bg1"/>
                </a:solidFill>
              </a:rPr>
              <a:t>que tienen una relación estadísticamente significativa con la variable objetivo numérica, según:</a:t>
            </a:r>
          </a:p>
          <a:p>
            <a:pPr lvl="1"/>
            <a:r>
              <a:rPr lang="es-ES" sz="2500" dirty="0">
                <a:solidFill>
                  <a:schemeClr val="bg1"/>
                </a:solidFill>
              </a:rPr>
              <a:t>t‑test si la variable tiene 2 categorías</a:t>
            </a:r>
          </a:p>
          <a:p>
            <a:pPr lvl="1"/>
            <a:r>
              <a:rPr lang="es-ES" sz="2500" dirty="0">
                <a:solidFill>
                  <a:schemeClr val="bg1"/>
                </a:solidFill>
              </a:rPr>
              <a:t>ANOVA si tiene 3 o más categorías</a:t>
            </a:r>
          </a:p>
          <a:p>
            <a:pPr lvl="1"/>
            <a:r>
              <a:rPr lang="es-ES" sz="2500" dirty="0">
                <a:solidFill>
                  <a:schemeClr val="bg1"/>
                </a:solidFill>
              </a:rPr>
              <a:t>p‑</a:t>
            </a:r>
            <a:r>
              <a:rPr lang="es-ES" sz="2500" dirty="0" err="1">
                <a:solidFill>
                  <a:schemeClr val="bg1"/>
                </a:solidFill>
              </a:rPr>
              <a:t>value</a:t>
            </a:r>
            <a:r>
              <a:rPr lang="es-ES" sz="2500" dirty="0">
                <a:solidFill>
                  <a:schemeClr val="bg1"/>
                </a:solidFill>
              </a:rPr>
              <a:t> ≤ </a:t>
            </a:r>
            <a:r>
              <a:rPr lang="es-ES" sz="2500" dirty="0" err="1">
                <a:solidFill>
                  <a:schemeClr val="bg1"/>
                </a:solidFill>
              </a:rPr>
              <a:t>pvalue</a:t>
            </a:r>
            <a:endParaRPr lang="es-ES" sz="2500" dirty="0">
              <a:solidFill>
                <a:schemeClr val="bg1"/>
              </a:solidFill>
            </a:endParaRPr>
          </a:p>
          <a:p>
            <a:pPr lvl="1"/>
            <a:endParaRPr lang="es-ES" sz="2500" dirty="0">
              <a:solidFill>
                <a:schemeClr val="bg1"/>
              </a:solidFill>
            </a:endParaRPr>
          </a:p>
          <a:p>
            <a:pPr lvl="1"/>
            <a:endParaRPr lang="es-MX" sz="25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96F77A07-7A4F-5DAE-7E60-BBA2FFDFE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757" y="610849"/>
            <a:ext cx="3409783" cy="4739164"/>
          </a:xfrm>
          <a:prstGeom prst="rect">
            <a:avLst/>
          </a:prstGeom>
        </p:spPr>
      </p:pic>
      <p:pic>
        <p:nvPicPr>
          <p:cNvPr id="10" name="Imagen 9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25551E82-914C-E133-80E0-F60A17298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756" y="5350013"/>
            <a:ext cx="3409783" cy="991978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A245537E-03D3-9D02-EE76-96347BF4E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805" y="635615"/>
            <a:ext cx="3900927" cy="5706376"/>
          </a:xfrm>
          <a:prstGeom prst="rect">
            <a:avLst/>
          </a:prstGeom>
        </p:spPr>
      </p:pic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4F77DF32-EC88-9F08-2816-529C0DCAD77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 flipH="1" flipV="1">
            <a:off x="5062270" y="1494992"/>
            <a:ext cx="5706376" cy="3987621"/>
          </a:xfrm>
          <a:prstGeom prst="bentConnector5">
            <a:avLst>
              <a:gd name="adj1" fmla="val -4006"/>
              <a:gd name="adj2" fmla="val 46921"/>
              <a:gd name="adj3" fmla="val 10400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707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19FF0-5D93-C3C7-80D2-F0880238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9F36F10-57B6-23CE-D4FA-631B37DE3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FEFD11-9E70-08F9-8CC2-0FA7C801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531C9F-E080-30DB-856B-FD2208A7B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153359-5351-79BB-37D5-97BDD80F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125E8E1-106F-A8B1-3473-BE6A66B1A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C5A2A1-3B83-BA4C-36F1-176347604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08E9B-EA89-FE82-B0B3-FD9CBDD29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665260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Plot_features_cat_regression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DCF3AF-BA76-5C33-826D-47F83C66B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256" y="2042230"/>
            <a:ext cx="3409782" cy="31051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s-MX" dirty="0">
                <a:solidFill>
                  <a:schemeClr val="bg1"/>
                </a:solidFill>
              </a:rPr>
              <a:t> Crea gráficos que muestran cómo cambia el valor del target según cada categoría. Ayuda a identificar si las variables categóricas generan diferencias relevantes y pueden aportar información al modelo.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14BA1752-90A8-1AF9-5D9D-3BF2D3EDBB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/>
          <a:stretch/>
        </p:blipFill>
        <p:spPr>
          <a:xfrm>
            <a:off x="5797282" y="665260"/>
            <a:ext cx="4410604" cy="561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656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FCD87-8644-B4E3-90FD-50851D7A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C5DA3AE-1AA9-D22B-06F8-B8F19721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5974CE-52E2-263A-136A-263F695A5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B29208-4786-2E4B-AE51-D775EF0AB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20D39D-C9BA-A5F3-4DD5-E9A6BF4C0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91CA7120-88C3-8705-3719-DB6EE848E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9DC5031-E220-5208-6B55-E657CE097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43D196-71A0-C2E2-66AB-548C539A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154455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br>
              <a:rPr lang="en-US" sz="1500" dirty="0"/>
            </a:br>
            <a:br>
              <a:rPr lang="en-US" sz="1500" dirty="0"/>
            </a:br>
            <a:r>
              <a:rPr lang="en-US" sz="1500" dirty="0"/>
              <a:t>Plot_features_cat_regression</a:t>
            </a:r>
            <a:br>
              <a:rPr lang="en-US" sz="1500" dirty="0"/>
            </a:br>
            <a:endParaRPr lang="en-US" sz="15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2707CE-90DF-4DF3-48D8-235651858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045" y="854942"/>
            <a:ext cx="3409782" cy="5813468"/>
          </a:xfr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indent="0"/>
            <a:r>
              <a:rPr lang="es-MX" sz="3700" dirty="0">
                <a:solidFill>
                  <a:schemeClr val="bg1"/>
                </a:solidFill>
              </a:rPr>
              <a:t> Los argumentos que introducimos en la función son los siguientes:</a:t>
            </a:r>
          </a:p>
          <a:p>
            <a:pPr lvl="1"/>
            <a:r>
              <a:rPr lang="es-MX" sz="3700" dirty="0" err="1">
                <a:solidFill>
                  <a:schemeClr val="bg1"/>
                </a:solidFill>
              </a:rPr>
              <a:t>df</a:t>
            </a:r>
            <a:r>
              <a:rPr lang="es-MX" sz="3700" dirty="0">
                <a:solidFill>
                  <a:schemeClr val="bg1"/>
                </a:solidFill>
              </a:rPr>
              <a:t>= introducimos el </a:t>
            </a:r>
            <a:r>
              <a:rPr lang="es-MX" sz="3700" dirty="0" err="1">
                <a:solidFill>
                  <a:schemeClr val="bg1"/>
                </a:solidFill>
              </a:rPr>
              <a:t>dataframe</a:t>
            </a:r>
            <a:r>
              <a:rPr lang="es-MX" sz="37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s-MX" sz="3700" dirty="0" err="1">
                <a:solidFill>
                  <a:schemeClr val="bg1"/>
                </a:solidFill>
              </a:rPr>
              <a:t>Target_col</a:t>
            </a:r>
            <a:r>
              <a:rPr lang="es-MX" sz="3700" dirty="0">
                <a:solidFill>
                  <a:schemeClr val="bg1"/>
                </a:solidFill>
              </a:rPr>
              <a:t>= </a:t>
            </a:r>
            <a:r>
              <a:rPr lang="es-ES" sz="3700" dirty="0">
                <a:solidFill>
                  <a:schemeClr val="bg1"/>
                </a:solidFill>
              </a:rPr>
              <a:t>Nombre de la variable objetivo (</a:t>
            </a:r>
            <a:r>
              <a:rPr lang="es-ES" sz="3700" dirty="0" err="1">
                <a:solidFill>
                  <a:schemeClr val="bg1"/>
                </a:solidFill>
              </a:rPr>
              <a:t>string</a:t>
            </a:r>
            <a:r>
              <a:rPr lang="es-ES" sz="3700" dirty="0">
                <a:solidFill>
                  <a:schemeClr val="bg1"/>
                </a:solidFill>
              </a:rPr>
              <a:t>). </a:t>
            </a:r>
          </a:p>
          <a:p>
            <a:pPr lvl="1"/>
            <a:r>
              <a:rPr lang="es-MX" sz="3700" dirty="0" err="1">
                <a:solidFill>
                  <a:schemeClr val="bg1"/>
                </a:solidFill>
              </a:rPr>
              <a:t>Columns</a:t>
            </a:r>
            <a:r>
              <a:rPr lang="es-MX" sz="3700" dirty="0">
                <a:solidFill>
                  <a:schemeClr val="bg1"/>
                </a:solidFill>
              </a:rPr>
              <a:t>=</a:t>
            </a:r>
            <a:r>
              <a:rPr lang="es-ES" sz="3700" dirty="0">
                <a:solidFill>
                  <a:schemeClr val="bg1"/>
                </a:solidFill>
              </a:rPr>
              <a:t>Lista de columnas categóricas a evaluar. Si no pasas nada (</a:t>
            </a:r>
            <a:r>
              <a:rPr lang="es-ES" sz="3700" dirty="0" err="1">
                <a:solidFill>
                  <a:schemeClr val="bg1"/>
                </a:solidFill>
              </a:rPr>
              <a:t>None</a:t>
            </a:r>
            <a:r>
              <a:rPr lang="es-ES" sz="3700" dirty="0">
                <a:solidFill>
                  <a:schemeClr val="bg1"/>
                </a:solidFill>
              </a:rPr>
              <a:t>), la función selecciona todas las columnas categóricas del </a:t>
            </a:r>
            <a:r>
              <a:rPr lang="es-ES" sz="3700" dirty="0" err="1">
                <a:solidFill>
                  <a:schemeClr val="bg1"/>
                </a:solidFill>
              </a:rPr>
              <a:t>DataFrame</a:t>
            </a:r>
            <a:endParaRPr lang="es-ES" sz="3700" dirty="0">
              <a:solidFill>
                <a:schemeClr val="bg1"/>
              </a:solidFill>
            </a:endParaRPr>
          </a:p>
          <a:p>
            <a:pPr lvl="1"/>
            <a:r>
              <a:rPr lang="es-ES" sz="3700" dirty="0" err="1">
                <a:solidFill>
                  <a:schemeClr val="bg1"/>
                </a:solidFill>
              </a:rPr>
              <a:t>Pvalue</a:t>
            </a:r>
            <a:r>
              <a:rPr lang="es-ES" sz="3700" dirty="0">
                <a:solidFill>
                  <a:schemeClr val="bg1"/>
                </a:solidFill>
              </a:rPr>
              <a:t>=Si lo pones, filtra también por significación estadística (p‑</a:t>
            </a:r>
            <a:r>
              <a:rPr lang="es-ES" sz="3700" dirty="0" err="1">
                <a:solidFill>
                  <a:schemeClr val="bg1"/>
                </a:solidFill>
              </a:rPr>
              <a:t>value</a:t>
            </a:r>
            <a:r>
              <a:rPr lang="es-ES" sz="3700" dirty="0">
                <a:solidFill>
                  <a:schemeClr val="bg1"/>
                </a:solidFill>
              </a:rPr>
              <a:t> ≤ ese valor). Si NO lo pones → </a:t>
            </a:r>
            <a:r>
              <a:rPr lang="es-ES" sz="3700" b="1" dirty="0">
                <a:solidFill>
                  <a:schemeClr val="bg1"/>
                </a:solidFill>
              </a:rPr>
              <a:t>no aplica filtro de p‑</a:t>
            </a:r>
            <a:r>
              <a:rPr lang="es-ES" sz="3700" b="1" dirty="0" err="1">
                <a:solidFill>
                  <a:schemeClr val="bg1"/>
                </a:solidFill>
              </a:rPr>
              <a:t>value</a:t>
            </a:r>
            <a:endParaRPr lang="es-ES" sz="3700" b="1" dirty="0">
              <a:solidFill>
                <a:schemeClr val="bg1"/>
              </a:solidFill>
            </a:endParaRPr>
          </a:p>
          <a:p>
            <a:pPr lvl="1"/>
            <a:r>
              <a:rPr lang="es-ES" sz="3700" dirty="0" err="1">
                <a:solidFill>
                  <a:schemeClr val="bg1"/>
                </a:solidFill>
              </a:rPr>
              <a:t>with_individual_plot</a:t>
            </a:r>
            <a:r>
              <a:rPr lang="es-ES" sz="3700" dirty="0">
                <a:solidFill>
                  <a:schemeClr val="bg1"/>
                </a:solidFill>
              </a:rPr>
              <a:t> (opcional, False por defecto): Si lo pones en True, genera histogramas del target por categoría para cada variable significativa.</a:t>
            </a:r>
            <a:endParaRPr lang="es-MX" sz="3700" dirty="0">
              <a:solidFill>
                <a:schemeClr val="bg1"/>
              </a:solidFill>
            </a:endParaRPr>
          </a:p>
          <a:p>
            <a:r>
              <a:rPr lang="es-ES" sz="3700" dirty="0">
                <a:solidFill>
                  <a:schemeClr val="bg1"/>
                </a:solidFill>
              </a:rPr>
              <a:t>La función </a:t>
            </a:r>
            <a:r>
              <a:rPr lang="es-ES" sz="3700" b="1" dirty="0">
                <a:solidFill>
                  <a:schemeClr val="bg1"/>
                </a:solidFill>
              </a:rPr>
              <a:t>devuelve una lista de nombres de columnas y graficas</a:t>
            </a:r>
            <a:r>
              <a:rPr lang="es-ES" sz="3700" dirty="0">
                <a:solidFill>
                  <a:schemeClr val="bg1"/>
                </a:solidFill>
              </a:rPr>
              <a:t> que muestran una relación </a:t>
            </a:r>
            <a:r>
              <a:rPr lang="es-ES" sz="3700" b="1" dirty="0">
                <a:solidFill>
                  <a:schemeClr val="bg1"/>
                </a:solidFill>
              </a:rPr>
              <a:t>estadísticamente significativa</a:t>
            </a:r>
            <a:r>
              <a:rPr lang="es-ES" sz="3700" dirty="0">
                <a:solidFill>
                  <a:schemeClr val="bg1"/>
                </a:solidFill>
              </a:rPr>
              <a:t> con la variable objetivo numérica (</a:t>
            </a:r>
            <a:r>
              <a:rPr lang="es-ES" sz="3700" dirty="0" err="1">
                <a:solidFill>
                  <a:schemeClr val="bg1"/>
                </a:solidFill>
              </a:rPr>
              <a:t>target_col</a:t>
            </a:r>
            <a:r>
              <a:rPr lang="es-ES" sz="3700" dirty="0">
                <a:solidFill>
                  <a:schemeClr val="bg1"/>
                </a:solidFill>
              </a:rPr>
              <a:t>), según:</a:t>
            </a:r>
          </a:p>
          <a:p>
            <a:pPr lvl="1"/>
            <a:r>
              <a:rPr lang="es-ES" sz="3500" b="1" dirty="0">
                <a:solidFill>
                  <a:schemeClr val="bg1"/>
                </a:solidFill>
              </a:rPr>
              <a:t>t‑test</a:t>
            </a:r>
            <a:r>
              <a:rPr lang="es-ES" sz="3500" dirty="0">
                <a:solidFill>
                  <a:schemeClr val="bg1"/>
                </a:solidFill>
              </a:rPr>
              <a:t> si la variable tiene 2 categorías</a:t>
            </a:r>
          </a:p>
          <a:p>
            <a:pPr lvl="1"/>
            <a:r>
              <a:rPr lang="es-ES" sz="3500" b="1" dirty="0">
                <a:solidFill>
                  <a:schemeClr val="bg1"/>
                </a:solidFill>
              </a:rPr>
              <a:t>ANOVA</a:t>
            </a:r>
            <a:r>
              <a:rPr lang="es-ES" sz="3500" dirty="0">
                <a:solidFill>
                  <a:schemeClr val="bg1"/>
                </a:solidFill>
              </a:rPr>
              <a:t> si tiene 3 o más</a:t>
            </a:r>
          </a:p>
          <a:p>
            <a:pPr lvl="1"/>
            <a:r>
              <a:rPr lang="es-ES" sz="3500" b="1" dirty="0">
                <a:solidFill>
                  <a:schemeClr val="bg1"/>
                </a:solidFill>
              </a:rPr>
              <a:t>p‑</a:t>
            </a:r>
            <a:r>
              <a:rPr lang="es-ES" sz="3500" b="1" dirty="0" err="1">
                <a:solidFill>
                  <a:schemeClr val="bg1"/>
                </a:solidFill>
              </a:rPr>
              <a:t>value</a:t>
            </a:r>
            <a:r>
              <a:rPr lang="es-ES" sz="3500" b="1" dirty="0">
                <a:solidFill>
                  <a:schemeClr val="bg1"/>
                </a:solidFill>
              </a:rPr>
              <a:t> ≤ </a:t>
            </a:r>
            <a:r>
              <a:rPr lang="es-ES" sz="3500" b="1" dirty="0" err="1">
                <a:solidFill>
                  <a:schemeClr val="bg1"/>
                </a:solidFill>
              </a:rPr>
              <a:t>pvalue</a:t>
            </a:r>
            <a:r>
              <a:rPr lang="es-ES" sz="3500" dirty="0">
                <a:solidFill>
                  <a:schemeClr val="bg1"/>
                </a:solidFill>
              </a:rPr>
              <a:t> (por defecto 0.05)</a:t>
            </a:r>
          </a:p>
          <a:p>
            <a:endParaRPr lang="es-ES" sz="37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26901E15-2B3E-CACA-29FB-01C7616C7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916" y="610849"/>
            <a:ext cx="3707478" cy="4838975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756A8886-E9D3-E811-7873-27A9E4294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916" y="5449824"/>
            <a:ext cx="3707476" cy="1189298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3646C9ED-329C-39A1-6D8A-018A6CC4B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147" y="626973"/>
            <a:ext cx="3799959" cy="6012150"/>
          </a:xfrm>
          <a:prstGeom prst="rect">
            <a:avLst/>
          </a:prstGeom>
        </p:spPr>
      </p:pic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C6271B8-499C-A22D-DB26-7A08E1F59C30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 flipH="1" flipV="1">
            <a:off x="4976815" y="1673811"/>
            <a:ext cx="6012149" cy="3918473"/>
          </a:xfrm>
          <a:prstGeom prst="bentConnector5">
            <a:avLst>
              <a:gd name="adj1" fmla="val -3802"/>
              <a:gd name="adj2" fmla="val 49410"/>
              <a:gd name="adj3" fmla="val 10380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44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es-ES" dirty="0">
              <a:solidFill>
                <a:schemeClr val="bg2"/>
              </a:solidFill>
            </a:endParaRPr>
          </a:p>
          <a:p>
            <a:pPr rtl="0"/>
            <a:endParaRPr lang="es-ES" dirty="0">
              <a:solidFill>
                <a:schemeClr val="bg2"/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Dividendo para tecnología</Template>
  <TotalTime>214</TotalTime>
  <Words>972</Words>
  <Application>Microsoft Office PowerPoint</Application>
  <PresentationFormat>Panorámica</PresentationFormat>
  <Paragraphs>91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Calibri</vt:lpstr>
      <vt:lpstr>Gill Sans MT</vt:lpstr>
      <vt:lpstr>Wingdings 2</vt:lpstr>
      <vt:lpstr>Dividendo</vt:lpstr>
      <vt:lpstr>Team_Challange: TOolBox</vt:lpstr>
      <vt:lpstr>Funciones</vt:lpstr>
      <vt:lpstr>Describe_df</vt:lpstr>
      <vt:lpstr>Describe_df</vt:lpstr>
      <vt:lpstr>Tipifica_variables </vt:lpstr>
      <vt:lpstr>Tipifica_variables </vt:lpstr>
      <vt:lpstr>Get_features_num_regression </vt:lpstr>
      <vt:lpstr>Get_features_num_regression </vt:lpstr>
      <vt:lpstr>  Plot_features_num_regression </vt:lpstr>
      <vt:lpstr>  Plot_features_num_regression </vt:lpstr>
      <vt:lpstr>Get_features_cat_regression </vt:lpstr>
      <vt:lpstr>Get_features_cat_regression </vt:lpstr>
      <vt:lpstr>  Plot_features_cat_regression </vt:lpstr>
      <vt:lpstr>  Plot_features_cat_regression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Sofía Gómez Ramírez</dc:creator>
  <cp:lastModifiedBy>Cesar Sanchez</cp:lastModifiedBy>
  <cp:revision>39</cp:revision>
  <dcterms:created xsi:type="dcterms:W3CDTF">2026-01-26T13:25:15Z</dcterms:created>
  <dcterms:modified xsi:type="dcterms:W3CDTF">2026-01-27T18:15:10Z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